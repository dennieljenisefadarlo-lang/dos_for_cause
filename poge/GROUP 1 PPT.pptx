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8" r:id="rId3"/>
    <p:sldId id="294" r:id="rId4"/>
    <p:sldId id="292" r:id="rId5"/>
    <p:sldId id="282" r:id="rId6"/>
    <p:sldId id="287" r:id="rId7"/>
    <p:sldId id="291" r:id="rId8"/>
    <p:sldId id="272" r:id="rId9"/>
    <p:sldId id="288" r:id="rId10"/>
  </p:sldIdLst>
  <p:sldSz cx="18288000" cy="10287000"/>
  <p:notesSz cx="6858000" cy="9144000"/>
  <p:embeddedFontLst>
    <p:embeddedFont>
      <p:font typeface="Book Antiqua" panose="02040602050305030304" pitchFamily="18" charset="0"/>
      <p:regular r:id="rId12"/>
      <p:bold r:id="rId13"/>
      <p:italic r:id="rId14"/>
      <p:boldItalic r:id="rId15"/>
    </p:embeddedFont>
    <p:embeddedFont>
      <p:font typeface="Canva Sans" panose="020B0604020202020204" charset="0"/>
      <p:regular r:id="rId16"/>
    </p:embeddedFont>
    <p:embeddedFont>
      <p:font typeface="Canva Sans Bold" panose="020B0604020202020204" charset="0"/>
      <p:regular r:id="rId17"/>
      <p:bold r:id="rId18"/>
    </p:embeddedFont>
    <p:embeddedFont>
      <p:font typeface="Open Sauce SemiBold" panose="020B0604020202020204" charset="0"/>
      <p:regular r:id="rId19"/>
      <p:bold r:id="rId20"/>
    </p:embeddedFont>
    <p:embeddedFont>
      <p:font typeface="Segoe UI Historic" panose="020B0502040204020203" pitchFamily="3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38" autoAdjust="0"/>
    <p:restoredTop sz="94626" autoAdjust="0"/>
  </p:normalViewPr>
  <p:slideViewPr>
    <p:cSldViewPr>
      <p:cViewPr varScale="1">
        <p:scale>
          <a:sx n="41" d="100"/>
          <a:sy n="41" d="100"/>
        </p:scale>
        <p:origin x="2232"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AE4D07-DA25-4F23-A16A-59C4E3191495}" type="datetimeFigureOut">
              <a:rPr lang="en-PH" smtClean="0"/>
              <a:t>12/05/2024</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37B070-0FB0-4584-A36C-BFE61B0BEA64}" type="slidenum">
              <a:rPr lang="en-PH" smtClean="0"/>
              <a:t>‹#›</a:t>
            </a:fld>
            <a:endParaRPr lang="en-PH"/>
          </a:p>
        </p:txBody>
      </p:sp>
    </p:spTree>
    <p:extLst>
      <p:ext uri="{BB962C8B-B14F-4D97-AF65-F5344CB8AC3E}">
        <p14:creationId xmlns:p14="http://schemas.microsoft.com/office/powerpoint/2010/main" val="30462905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6637B070-0FB0-4584-A36C-BFE61B0BEA64}" type="slidenum">
              <a:rPr lang="en-PH" smtClean="0"/>
              <a:t>6</a:t>
            </a:fld>
            <a:endParaRPr lang="en-PH"/>
          </a:p>
        </p:txBody>
      </p:sp>
    </p:spTree>
    <p:extLst>
      <p:ext uri="{BB962C8B-B14F-4D97-AF65-F5344CB8AC3E}">
        <p14:creationId xmlns:p14="http://schemas.microsoft.com/office/powerpoint/2010/main" val="21471177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947717">
            <a:off x="-1294176" y="5687382"/>
            <a:ext cx="11117944" cy="9911296"/>
            <a:chOff x="0" y="0"/>
            <a:chExt cx="7661007" cy="6829546"/>
          </a:xfrm>
        </p:grpSpPr>
        <p:sp>
          <p:nvSpPr>
            <p:cNvPr id="3" name="Freeform 3"/>
            <p:cNvSpPr/>
            <p:nvPr/>
          </p:nvSpPr>
          <p:spPr>
            <a:xfrm>
              <a:off x="0" y="0"/>
              <a:ext cx="7661007" cy="6829546"/>
            </a:xfrm>
            <a:custGeom>
              <a:avLst/>
              <a:gdLst/>
              <a:ahLst/>
              <a:cxnLst/>
              <a:rect l="l" t="t" r="r" b="b"/>
              <a:pathLst>
                <a:path w="7661007" h="6829546">
                  <a:moveTo>
                    <a:pt x="0" y="0"/>
                  </a:moveTo>
                  <a:lnTo>
                    <a:pt x="7661007" y="0"/>
                  </a:lnTo>
                  <a:lnTo>
                    <a:pt x="7661007" y="6829546"/>
                  </a:lnTo>
                  <a:lnTo>
                    <a:pt x="0" y="6829546"/>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grpSp>
        <p:nvGrpSpPr>
          <p:cNvPr id="5" name="Group 5"/>
          <p:cNvGrpSpPr/>
          <p:nvPr/>
        </p:nvGrpSpPr>
        <p:grpSpPr>
          <a:xfrm rot="2947717">
            <a:off x="-6465941" y="690295"/>
            <a:ext cx="9911789" cy="10136480"/>
            <a:chOff x="0" y="0"/>
            <a:chExt cx="6829886" cy="6984713"/>
          </a:xfrm>
        </p:grpSpPr>
        <p:sp>
          <p:nvSpPr>
            <p:cNvPr id="6" name="Freeform 6"/>
            <p:cNvSpPr/>
            <p:nvPr/>
          </p:nvSpPr>
          <p:spPr>
            <a:xfrm>
              <a:off x="0" y="0"/>
              <a:ext cx="6829885" cy="6984713"/>
            </a:xfrm>
            <a:custGeom>
              <a:avLst/>
              <a:gdLst/>
              <a:ahLst/>
              <a:cxnLst/>
              <a:rect l="l" t="t" r="r" b="b"/>
              <a:pathLst>
                <a:path w="6829885" h="6984713">
                  <a:moveTo>
                    <a:pt x="0" y="0"/>
                  </a:moveTo>
                  <a:lnTo>
                    <a:pt x="6829885" y="0"/>
                  </a:lnTo>
                  <a:lnTo>
                    <a:pt x="6829885" y="6984713"/>
                  </a:lnTo>
                  <a:lnTo>
                    <a:pt x="0" y="6984713"/>
                  </a:lnTo>
                  <a:close/>
                </a:path>
              </a:pathLst>
            </a:custGeom>
            <a:solidFill>
              <a:srgbClr val="025492"/>
            </a:solidFill>
          </p:spPr>
          <p:txBody>
            <a:bodyPr/>
            <a:lstStyle/>
            <a:p>
              <a:endParaRPr lang="en-PH"/>
            </a:p>
          </p:txBody>
        </p:sp>
        <p:sp>
          <p:nvSpPr>
            <p:cNvPr id="7" name="TextBox 7"/>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grpSp>
        <p:nvGrpSpPr>
          <p:cNvPr id="8" name="Group 8"/>
          <p:cNvGrpSpPr/>
          <p:nvPr/>
        </p:nvGrpSpPr>
        <p:grpSpPr>
          <a:xfrm rot="-1928772">
            <a:off x="7204833" y="4791301"/>
            <a:ext cx="2507627" cy="8255046"/>
            <a:chOff x="0" y="0"/>
            <a:chExt cx="898677" cy="2958422"/>
          </a:xfrm>
        </p:grpSpPr>
        <p:sp>
          <p:nvSpPr>
            <p:cNvPr id="9" name="Freeform 9"/>
            <p:cNvSpPr/>
            <p:nvPr/>
          </p:nvSpPr>
          <p:spPr>
            <a:xfrm>
              <a:off x="0" y="0"/>
              <a:ext cx="898677" cy="2958422"/>
            </a:xfrm>
            <a:custGeom>
              <a:avLst/>
              <a:gdLst/>
              <a:ahLst/>
              <a:cxnLst/>
              <a:rect l="l" t="t" r="r" b="b"/>
              <a:pathLst>
                <a:path w="898677" h="2958422">
                  <a:moveTo>
                    <a:pt x="449338" y="0"/>
                  </a:moveTo>
                  <a:lnTo>
                    <a:pt x="898677" y="2958422"/>
                  </a:lnTo>
                  <a:lnTo>
                    <a:pt x="0" y="2958422"/>
                  </a:lnTo>
                  <a:lnTo>
                    <a:pt x="449338" y="0"/>
                  </a:lnTo>
                  <a:close/>
                </a:path>
              </a:pathLst>
            </a:custGeom>
            <a:solidFill>
              <a:srgbClr val="176A7F">
                <a:alpha val="9804"/>
              </a:srgbClr>
            </a:solidFill>
          </p:spPr>
          <p:txBody>
            <a:bodyPr/>
            <a:lstStyle/>
            <a:p>
              <a:endParaRPr lang="en-PH"/>
            </a:p>
          </p:txBody>
        </p:sp>
        <p:sp>
          <p:nvSpPr>
            <p:cNvPr id="10" name="TextBox 10"/>
            <p:cNvSpPr txBox="1"/>
            <p:nvPr/>
          </p:nvSpPr>
          <p:spPr>
            <a:xfrm>
              <a:off x="127000" y="301625"/>
              <a:ext cx="558800" cy="358775"/>
            </a:xfrm>
            <a:prstGeom prst="rect">
              <a:avLst/>
            </a:prstGeom>
          </p:spPr>
          <p:txBody>
            <a:bodyPr lIns="50800" tIns="50800" rIns="50800" bIns="50800" rtlCol="0" anchor="ctr"/>
            <a:lstStyle/>
            <a:p>
              <a:pPr algn="ctr">
                <a:lnSpc>
                  <a:spcPts val="1960"/>
                </a:lnSpc>
              </a:pPr>
              <a:endParaRPr/>
            </a:p>
          </p:txBody>
        </p:sp>
      </p:grpSp>
      <p:grpSp>
        <p:nvGrpSpPr>
          <p:cNvPr id="11" name="Group 11"/>
          <p:cNvGrpSpPr/>
          <p:nvPr/>
        </p:nvGrpSpPr>
        <p:grpSpPr>
          <a:xfrm rot="2947717">
            <a:off x="-981280" y="2131930"/>
            <a:ext cx="8321696" cy="1239985"/>
            <a:chOff x="0" y="0"/>
            <a:chExt cx="5734205" cy="854433"/>
          </a:xfrm>
        </p:grpSpPr>
        <p:sp>
          <p:nvSpPr>
            <p:cNvPr id="12" name="Freeform 12"/>
            <p:cNvSpPr/>
            <p:nvPr/>
          </p:nvSpPr>
          <p:spPr>
            <a:xfrm>
              <a:off x="0" y="0"/>
              <a:ext cx="5734205" cy="854433"/>
            </a:xfrm>
            <a:custGeom>
              <a:avLst/>
              <a:gdLst/>
              <a:ahLst/>
              <a:cxnLst/>
              <a:rect l="l" t="t" r="r" b="b"/>
              <a:pathLst>
                <a:path w="5734205" h="854433">
                  <a:moveTo>
                    <a:pt x="0" y="0"/>
                  </a:moveTo>
                  <a:lnTo>
                    <a:pt x="5734205" y="0"/>
                  </a:lnTo>
                  <a:lnTo>
                    <a:pt x="5734205" y="854433"/>
                  </a:lnTo>
                  <a:lnTo>
                    <a:pt x="0" y="854433"/>
                  </a:lnTo>
                  <a:close/>
                </a:path>
              </a:pathLst>
            </a:custGeom>
            <a:solidFill>
              <a:srgbClr val="FFDE59"/>
            </a:solidFill>
          </p:spPr>
          <p:txBody>
            <a:bodyPr/>
            <a:lstStyle/>
            <a:p>
              <a:endParaRPr lang="en-PH"/>
            </a:p>
          </p:txBody>
        </p:sp>
        <p:sp>
          <p:nvSpPr>
            <p:cNvPr id="13" name="TextBox 13"/>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grpSp>
        <p:nvGrpSpPr>
          <p:cNvPr id="14" name="Group 14"/>
          <p:cNvGrpSpPr/>
          <p:nvPr/>
        </p:nvGrpSpPr>
        <p:grpSpPr>
          <a:xfrm>
            <a:off x="12074194" y="474652"/>
            <a:ext cx="5740895" cy="1510954"/>
            <a:chOff x="0" y="-1696203"/>
            <a:chExt cx="7654527" cy="2014607"/>
          </a:xfrm>
        </p:grpSpPr>
        <p:pic>
          <p:nvPicPr>
            <p:cNvPr id="15" name="Picture 15"/>
            <p:cNvPicPr>
              <a:picLocks noChangeAspect="1"/>
            </p:cNvPicPr>
            <p:nvPr/>
          </p:nvPicPr>
          <p:blipFill>
            <a:blip r:embed="rId2"/>
            <a:srcRect/>
            <a:stretch>
              <a:fillRect/>
            </a:stretch>
          </p:blipFill>
          <p:spPr>
            <a:xfrm>
              <a:off x="0" y="-1696203"/>
              <a:ext cx="2157052" cy="2014607"/>
            </a:xfrm>
            <a:prstGeom prst="rect">
              <a:avLst/>
            </a:prstGeom>
          </p:spPr>
        </p:pic>
        <p:sp>
          <p:nvSpPr>
            <p:cNvPr id="16" name="TextBox 16"/>
            <p:cNvSpPr txBox="1"/>
            <p:nvPr/>
          </p:nvSpPr>
          <p:spPr>
            <a:xfrm>
              <a:off x="2393868" y="-1367839"/>
              <a:ext cx="4391770" cy="678938"/>
            </a:xfrm>
            <a:prstGeom prst="rect">
              <a:avLst/>
            </a:prstGeom>
          </p:spPr>
          <p:txBody>
            <a:bodyPr lIns="0" tIns="0" rIns="0" bIns="0" rtlCol="0" anchor="t">
              <a:spAutoFit/>
            </a:bodyPr>
            <a:lstStyle/>
            <a:p>
              <a:pPr>
                <a:lnSpc>
                  <a:spcPts val="4290"/>
                </a:lnSpc>
              </a:pPr>
              <a:r>
                <a:rPr lang="en-US" sz="3064">
                  <a:solidFill>
                    <a:srgbClr val="000000"/>
                  </a:solidFill>
                  <a:latin typeface="Open Sauce SemiBold"/>
                </a:rPr>
                <a:t>Cainta</a:t>
              </a:r>
            </a:p>
          </p:txBody>
        </p:sp>
        <p:sp>
          <p:nvSpPr>
            <p:cNvPr id="17" name="TextBox 17"/>
            <p:cNvSpPr txBox="1"/>
            <p:nvPr/>
          </p:nvSpPr>
          <p:spPr>
            <a:xfrm>
              <a:off x="2393868" y="-736525"/>
              <a:ext cx="5260659" cy="550611"/>
            </a:xfrm>
            <a:prstGeom prst="rect">
              <a:avLst/>
            </a:prstGeom>
          </p:spPr>
          <p:txBody>
            <a:bodyPr lIns="0" tIns="0" rIns="0" bIns="0" rtlCol="0" anchor="t">
              <a:spAutoFit/>
            </a:bodyPr>
            <a:lstStyle/>
            <a:p>
              <a:pPr>
                <a:lnSpc>
                  <a:spcPts val="3526"/>
                </a:lnSpc>
              </a:pPr>
              <a:r>
                <a:rPr lang="en-US" sz="2519" dirty="0">
                  <a:solidFill>
                    <a:srgbClr val="000000"/>
                  </a:solidFill>
                  <a:latin typeface="Open Sauce SemiBold"/>
                </a:rPr>
                <a:t>Senior High School</a:t>
              </a:r>
            </a:p>
          </p:txBody>
        </p:sp>
      </p:grpSp>
      <p:pic>
        <p:nvPicPr>
          <p:cNvPr id="18" name="Picture 18"/>
          <p:cNvPicPr>
            <a:picLocks noChangeAspect="1"/>
          </p:cNvPicPr>
          <p:nvPr/>
        </p:nvPicPr>
        <p:blipFill>
          <a:blip r:embed="rId3"/>
          <a:srcRect t="94779" b="614"/>
          <a:stretch>
            <a:fillRect/>
          </a:stretch>
        </p:blipFill>
        <p:spPr>
          <a:xfrm rot="-2454429">
            <a:off x="-1329500" y="8289593"/>
            <a:ext cx="9018137" cy="244373"/>
          </a:xfrm>
          <a:prstGeom prst="rect">
            <a:avLst/>
          </a:prstGeom>
        </p:spPr>
      </p:pic>
      <p:sp>
        <p:nvSpPr>
          <p:cNvPr id="19" name="TextBox 19"/>
          <p:cNvSpPr txBox="1"/>
          <p:nvPr/>
        </p:nvSpPr>
        <p:spPr>
          <a:xfrm>
            <a:off x="6498586" y="2237673"/>
            <a:ext cx="9988159" cy="2462213"/>
          </a:xfrm>
          <a:prstGeom prst="rect">
            <a:avLst/>
          </a:prstGeom>
        </p:spPr>
        <p:txBody>
          <a:bodyPr wrap="square" lIns="0" tIns="0" rIns="0" bIns="0" rtlCol="0" anchor="t">
            <a:spAutoFit/>
          </a:bodyPr>
          <a:lstStyle/>
          <a:p>
            <a:pPr algn="ctr"/>
            <a:r>
              <a:rPr lang="en-US" sz="4000" dirty="0">
                <a:latin typeface="Canva Sans Bold"/>
              </a:rPr>
              <a:t>THE PERCEPTION OF INFORMATION AND COMMUNICATION TECHNOLOGY STUDENTS ON THE USE OF ARTIFICIAL INTELLIGENCE IN THE ACADEME</a:t>
            </a:r>
          </a:p>
        </p:txBody>
      </p:sp>
      <p:sp>
        <p:nvSpPr>
          <p:cNvPr id="21" name="TextBox 21"/>
          <p:cNvSpPr txBox="1"/>
          <p:nvPr/>
        </p:nvSpPr>
        <p:spPr>
          <a:xfrm>
            <a:off x="9287316" y="6624256"/>
            <a:ext cx="6194023" cy="3109121"/>
          </a:xfrm>
          <a:prstGeom prst="rect">
            <a:avLst/>
          </a:prstGeom>
        </p:spPr>
        <p:txBody>
          <a:bodyPr wrap="square" lIns="0" tIns="0" rIns="0" bIns="0" rtlCol="0" anchor="t">
            <a:spAutoFit/>
          </a:bodyPr>
          <a:lstStyle/>
          <a:p>
            <a:pPr algn="ctr">
              <a:lnSpc>
                <a:spcPts val="3500"/>
              </a:lnSpc>
            </a:pPr>
            <a:r>
              <a:rPr lang="en-US" sz="2400" b="1" dirty="0" err="1">
                <a:solidFill>
                  <a:srgbClr val="000000"/>
                </a:solidFill>
                <a:latin typeface="Canva Sans"/>
              </a:rPr>
              <a:t>Adarlo,Denniel</a:t>
            </a:r>
            <a:r>
              <a:rPr lang="en-US" sz="2400" b="1" dirty="0">
                <a:solidFill>
                  <a:srgbClr val="000000"/>
                </a:solidFill>
                <a:latin typeface="Canva Sans"/>
              </a:rPr>
              <a:t> Jenise F.</a:t>
            </a:r>
          </a:p>
          <a:p>
            <a:pPr algn="ctr">
              <a:lnSpc>
                <a:spcPts val="3500"/>
              </a:lnSpc>
            </a:pPr>
            <a:r>
              <a:rPr lang="en-US" sz="2400" b="1" dirty="0" err="1">
                <a:solidFill>
                  <a:srgbClr val="000000"/>
                </a:solidFill>
                <a:latin typeface="Canva Sans"/>
              </a:rPr>
              <a:t>Mariveles,Maverick</a:t>
            </a:r>
            <a:endParaRPr lang="en-US" sz="2400" b="1" dirty="0">
              <a:solidFill>
                <a:srgbClr val="000000"/>
              </a:solidFill>
              <a:latin typeface="Canva Sans"/>
            </a:endParaRPr>
          </a:p>
          <a:p>
            <a:pPr algn="ctr">
              <a:lnSpc>
                <a:spcPts val="3500"/>
              </a:lnSpc>
            </a:pPr>
            <a:r>
              <a:rPr lang="en-US" sz="2400" b="1" dirty="0" err="1">
                <a:solidFill>
                  <a:srgbClr val="000000"/>
                </a:solidFill>
                <a:latin typeface="Canva Sans"/>
              </a:rPr>
              <a:t>Napire,Ephraim</a:t>
            </a:r>
            <a:endParaRPr lang="en-US" sz="2400" b="1" dirty="0">
              <a:solidFill>
                <a:srgbClr val="000000"/>
              </a:solidFill>
              <a:latin typeface="Canva Sans"/>
            </a:endParaRPr>
          </a:p>
          <a:p>
            <a:pPr algn="ctr">
              <a:lnSpc>
                <a:spcPts val="3500"/>
              </a:lnSpc>
            </a:pPr>
            <a:r>
              <a:rPr lang="en-US" sz="2400" b="1" dirty="0" err="1">
                <a:solidFill>
                  <a:srgbClr val="000000"/>
                </a:solidFill>
                <a:latin typeface="Canva Sans"/>
              </a:rPr>
              <a:t>Gelit,Bernadette</a:t>
            </a:r>
            <a:endParaRPr lang="en-US" sz="2400" b="1" dirty="0">
              <a:solidFill>
                <a:srgbClr val="000000"/>
              </a:solidFill>
              <a:latin typeface="Canva Sans"/>
            </a:endParaRPr>
          </a:p>
          <a:p>
            <a:pPr algn="ctr">
              <a:lnSpc>
                <a:spcPts val="3500"/>
              </a:lnSpc>
            </a:pPr>
            <a:r>
              <a:rPr lang="en-US" sz="2400" b="1" dirty="0" err="1">
                <a:solidFill>
                  <a:srgbClr val="000000"/>
                </a:solidFill>
                <a:latin typeface="Canva Sans"/>
              </a:rPr>
              <a:t>Page,Emman</a:t>
            </a:r>
            <a:endParaRPr lang="en-US" sz="2400" b="1" dirty="0">
              <a:solidFill>
                <a:srgbClr val="000000"/>
              </a:solidFill>
              <a:latin typeface="Canva Sans"/>
            </a:endParaRPr>
          </a:p>
          <a:p>
            <a:pPr algn="ctr">
              <a:lnSpc>
                <a:spcPts val="3500"/>
              </a:lnSpc>
            </a:pPr>
            <a:r>
              <a:rPr lang="en-US" sz="2400" b="1" dirty="0" err="1">
                <a:solidFill>
                  <a:srgbClr val="000000"/>
                </a:solidFill>
                <a:latin typeface="Canva Sans"/>
              </a:rPr>
              <a:t>Peritos,Diana</a:t>
            </a:r>
            <a:endParaRPr lang="en-US" sz="2400" b="1" dirty="0">
              <a:solidFill>
                <a:srgbClr val="000000"/>
              </a:solidFill>
              <a:latin typeface="Canva Sans"/>
            </a:endParaRPr>
          </a:p>
          <a:p>
            <a:pPr algn="ctr">
              <a:lnSpc>
                <a:spcPts val="3500"/>
              </a:lnSpc>
            </a:pPr>
            <a:endParaRPr lang="en-US" sz="2400" b="1" dirty="0">
              <a:solidFill>
                <a:srgbClr val="000000"/>
              </a:solidFill>
              <a:latin typeface="Canva Sans"/>
            </a:endParaRPr>
          </a:p>
        </p:txBody>
      </p:sp>
      <p:sp>
        <p:nvSpPr>
          <p:cNvPr id="20" name="Rectangle 19">
            <a:extLst>
              <a:ext uri="{FF2B5EF4-FFF2-40B4-BE49-F238E27FC236}">
                <a16:creationId xmlns:a16="http://schemas.microsoft.com/office/drawing/2014/main" id="{75F3E5BE-BA75-1C60-D9C4-26AACCDBCD72}"/>
              </a:ext>
            </a:extLst>
          </p:cNvPr>
          <p:cNvSpPr/>
          <p:nvPr/>
        </p:nvSpPr>
        <p:spPr>
          <a:xfrm>
            <a:off x="11153958" y="5398097"/>
            <a:ext cx="2460738" cy="1323439"/>
          </a:xfrm>
          <a:prstGeom prst="rect">
            <a:avLst/>
          </a:prstGeom>
          <a:noFill/>
        </p:spPr>
        <p:txBody>
          <a:bodyPr wrap="none" lIns="91440" tIns="45720" rIns="91440" bIns="45720">
            <a:spAutoFit/>
          </a:bodyPr>
          <a:lstStyle/>
          <a:p>
            <a:pPr algn="ctr"/>
            <a:r>
              <a:rPr lang="en-US" sz="4000" b="0" cap="none" spc="0" dirty="0">
                <a:ln w="0"/>
                <a:solidFill>
                  <a:schemeClr val="tx1"/>
                </a:solidFill>
                <a:effectLst>
                  <a:outerShdw blurRad="38100" dist="19050" dir="2700000" algn="tl" rotWithShape="0">
                    <a:schemeClr val="dk1">
                      <a:alpha val="40000"/>
                    </a:schemeClr>
                  </a:outerShdw>
                </a:effectLst>
              </a:rPr>
              <a:t>GROUP – 1</a:t>
            </a:r>
          </a:p>
          <a:p>
            <a:pPr algn="ctr"/>
            <a:r>
              <a:rPr lang="en-US" sz="4000" dirty="0">
                <a:ln w="0"/>
                <a:effectLst>
                  <a:outerShdw blurRad="38100" dist="19050" dir="2700000" algn="tl" rotWithShape="0">
                    <a:schemeClr val="dk1">
                      <a:alpha val="40000"/>
                    </a:schemeClr>
                  </a:outerShdw>
                </a:effectLst>
              </a:rPr>
              <a:t>G11-SQL</a:t>
            </a:r>
            <a:endParaRPr lang="en-US" sz="4000" b="0" cap="none" spc="0" dirty="0">
              <a:ln w="0"/>
              <a:solidFill>
                <a:schemeClr val="tx1"/>
              </a:solidFill>
              <a:effectLst>
                <a:outerShdw blurRad="38100" dist="19050" dir="2700000" algn="tl" rotWithShape="0">
                  <a:schemeClr val="dk1">
                    <a:alpha val="40000"/>
                  </a:scheme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741747" y="342900"/>
            <a:ext cx="13366687" cy="923330"/>
          </a:xfrm>
          <a:prstGeom prst="rect">
            <a:avLst/>
          </a:prstGeom>
        </p:spPr>
        <p:txBody>
          <a:bodyPr wrap="square" lIns="0" tIns="0" rIns="0" bIns="0" rtlCol="0" anchor="t">
            <a:spAutoFit/>
          </a:bodyPr>
          <a:lstStyle/>
          <a:p>
            <a:r>
              <a:rPr lang="en-US" sz="6000" b="1" dirty="0">
                <a:solidFill>
                  <a:srgbClr val="000000"/>
                </a:solidFill>
                <a:latin typeface="Book Antiqua" panose="02040602050305030304" pitchFamily="18" charset="0"/>
              </a:rPr>
              <a:t>Abstract</a:t>
            </a: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8" name="TextBox 27">
            <a:extLst>
              <a:ext uri="{FF2B5EF4-FFF2-40B4-BE49-F238E27FC236}">
                <a16:creationId xmlns:a16="http://schemas.microsoft.com/office/drawing/2014/main" id="{2AD0B635-C0BB-C48E-D881-23DD516CCAAA}"/>
              </a:ext>
            </a:extLst>
          </p:cNvPr>
          <p:cNvSpPr txBox="1"/>
          <p:nvPr/>
        </p:nvSpPr>
        <p:spPr>
          <a:xfrm>
            <a:off x="2944285" y="1354213"/>
            <a:ext cx="14970728" cy="7232749"/>
          </a:xfrm>
          <a:prstGeom prst="rect">
            <a:avLst/>
          </a:prstGeom>
          <a:noFill/>
        </p:spPr>
        <p:txBody>
          <a:bodyPr wrap="square">
            <a:spAutoFit/>
          </a:bodyPr>
          <a:lstStyle/>
          <a:p>
            <a:pPr>
              <a:lnSpc>
                <a:spcPct val="150000"/>
              </a:lnSpc>
            </a:pPr>
            <a:r>
              <a:rPr lang="en-PH" sz="3200" dirty="0">
                <a:effectLst/>
                <a:latin typeface="Arial" panose="020B0604020202020204" pitchFamily="34" charset="0"/>
                <a:ea typeface="Arial" panose="020B0604020202020204" pitchFamily="34" charset="0"/>
              </a:rPr>
              <a:t>Technologies can be broadly categorized into narrow Al, which is designed for specific tasks, and general Al, which aims to perform any intellectual task that a human can do. This study focused on the  Perception of Information and Communication Technology students on the use of Artificial Intelligence in the academe. Furthermore, The coverage of the study will be conducted among 30 Grade 11 Information and Communication Technology respondents in any genders of Cainta Senior High School.</a:t>
            </a:r>
          </a:p>
          <a:p>
            <a:r>
              <a:rPr lang="en-PH" sz="3200" dirty="0">
                <a:effectLst/>
                <a:latin typeface="Arial" panose="020B0604020202020204" pitchFamily="34" charset="0"/>
                <a:ea typeface="Arial" panose="020B0604020202020204" pitchFamily="34" charset="0"/>
              </a:rPr>
              <a:t>Qualitative approach was utilized in this study. A questionnaire was used to collect data from respondents. The results revealed that students recognize the potential benefits of AI in their academe, there is a need for clear guidelines and professional development to ensure responsible and effective use of AI</a:t>
            </a:r>
            <a:endParaRPr lang="en-PH" sz="3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741747" y="342900"/>
            <a:ext cx="13366687" cy="923330"/>
          </a:xfrm>
          <a:prstGeom prst="rect">
            <a:avLst/>
          </a:prstGeom>
        </p:spPr>
        <p:txBody>
          <a:bodyPr wrap="square" lIns="0" tIns="0" rIns="0" bIns="0" rtlCol="0" anchor="t">
            <a:spAutoFit/>
          </a:bodyPr>
          <a:lstStyle/>
          <a:p>
            <a:r>
              <a:rPr lang="en-US" sz="6000" b="1" dirty="0">
                <a:latin typeface="Book Antiqua" panose="02040602050305030304" pitchFamily="18" charset="0"/>
              </a:rPr>
              <a:t>I. Introduction</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3230125" y="1562100"/>
            <a:ext cx="13631852" cy="3469283"/>
          </a:xfrm>
          <a:prstGeom prst="rect">
            <a:avLst/>
          </a:prstGeom>
        </p:spPr>
        <p:txBody>
          <a:bodyPr wrap="square" lIns="0" tIns="0" rIns="0" bIns="0" rtlCol="0" anchor="t">
            <a:spAutoFit/>
          </a:bodyPr>
          <a:lstStyle/>
          <a:p>
            <a:pPr marL="690881" lvl="1" indent="-345440" algn="just">
              <a:lnSpc>
                <a:spcPts val="4480"/>
              </a:lnSpc>
              <a:buFont typeface="Arial"/>
              <a:buChar char="•"/>
            </a:pPr>
            <a:r>
              <a:rPr lang="en-US" sz="4400" b="1" dirty="0">
                <a:latin typeface="Book Antiqua" panose="02040602050305030304" pitchFamily="18" charset="0"/>
              </a:rPr>
              <a:t>Background of the Study (</a:t>
            </a:r>
            <a:r>
              <a:rPr lang="en-US" sz="4400" b="1" i="1" dirty="0">
                <a:latin typeface="Book Antiqua" panose="02040602050305030304" pitchFamily="18" charset="0"/>
              </a:rPr>
              <a:t>summary)</a:t>
            </a: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9" name="TextBox 28">
            <a:extLst>
              <a:ext uri="{FF2B5EF4-FFF2-40B4-BE49-F238E27FC236}">
                <a16:creationId xmlns:a16="http://schemas.microsoft.com/office/drawing/2014/main" id="{37D830B2-0D54-93FA-A668-20CCA29C48D1}"/>
              </a:ext>
            </a:extLst>
          </p:cNvPr>
          <p:cNvSpPr txBox="1"/>
          <p:nvPr/>
        </p:nvSpPr>
        <p:spPr>
          <a:xfrm>
            <a:off x="3153007" y="2324100"/>
            <a:ext cx="13839593" cy="4708981"/>
          </a:xfrm>
          <a:prstGeom prst="rect">
            <a:avLst/>
          </a:prstGeom>
          <a:noFill/>
        </p:spPr>
        <p:txBody>
          <a:bodyPr wrap="square">
            <a:spAutoFit/>
          </a:bodyPr>
          <a:lstStyle/>
          <a:p>
            <a:r>
              <a:rPr lang="en-US" sz="2000" b="0" i="0" dirty="0">
                <a:effectLst/>
                <a:latin typeface="Segoe UI Historic" panose="020B0502040204020203" pitchFamily="34" charset="0"/>
              </a:rPr>
              <a:t>Introduction  </a:t>
            </a:r>
          </a:p>
          <a:p>
            <a:r>
              <a:rPr lang="en-US" sz="2000" b="0" i="0" dirty="0">
                <a:effectLst/>
                <a:latin typeface="Segoe UI Historic" panose="020B0502040204020203" pitchFamily="34" charset="0"/>
              </a:rPr>
              <a:t>An article named Artificial Intelligence Definition by Asa B. Simmons (1988) defines artificial intelligence (AI) as a simulation of human intelligence by a machine that includes learning, reasoning, problem-solving, perception, and language understanding. AI can be categorized into two categories. 1. Narrow AI: designed for specific tasks 2. General AI: Designed for performing human-like intellectual tasks * The societal perceptions of AI within the article discuss the concerns about the superiority of AI, including its capabilities to facilitate tasks such as academic tasks. The concern concludes that students tend to minimize their efforts and motivation to rely only on artificial intelligence for understanding. * Based on the article "Adapting Learning Based on Artificial Intelligence to Overcome Students Academic Inequalities" by </a:t>
            </a:r>
            <a:r>
              <a:rPr lang="en-US" sz="2000" b="0" i="0" dirty="0" err="1">
                <a:effectLst/>
                <a:latin typeface="Segoe UI Historic" panose="020B0502040204020203" pitchFamily="34" charset="0"/>
              </a:rPr>
              <a:t>Faridol</a:t>
            </a:r>
            <a:r>
              <a:rPr lang="en-US" sz="2000" b="0" i="0" dirty="0">
                <a:effectLst/>
                <a:latin typeface="Segoe UI Historic" panose="020B0502040204020203" pitchFamily="34" charset="0"/>
              </a:rPr>
              <a:t> </a:t>
            </a:r>
            <a:r>
              <a:rPr lang="en-US" sz="2000" b="0" i="0" dirty="0" err="1">
                <a:effectLst/>
                <a:latin typeface="Segoe UI Historic" panose="020B0502040204020203" pitchFamily="34" charset="0"/>
              </a:rPr>
              <a:t>Ansur</a:t>
            </a:r>
            <a:r>
              <a:rPr lang="en-US" sz="2000" b="0" i="0" dirty="0">
                <a:effectLst/>
                <a:latin typeface="Segoe UI Historic" panose="020B0502040204020203" pitchFamily="34" charset="0"/>
              </a:rPr>
              <a:t> (2023), artificial intelligence (AI) can cause academic inequality for students. The study provides learning styles and differences in mastery material that will trigger the said inequality. There is a lack of information about the abilities of information and communication technology (ICT) students when using AI. The abilities include: Critical thinking ability to understand - Observation - Analyzation are </a:t>
            </a:r>
            <a:r>
              <a:rPr lang="en-US" sz="2000" b="0" i="0" dirty="0" err="1">
                <a:effectLst/>
                <a:latin typeface="Segoe UI Historic" panose="020B0502040204020203" pitchFamily="34" charset="0"/>
              </a:rPr>
              <a:t>losts</a:t>
            </a:r>
            <a:r>
              <a:rPr lang="en-US" sz="2000" b="0" i="0" dirty="0">
                <a:effectLst/>
                <a:latin typeface="Segoe UI Historic" panose="020B0502040204020203" pitchFamily="34" charset="0"/>
              </a:rPr>
              <a:t> and needed of ICT students which rely on AI * The perception of how and when to use AI should be learned by the Information and Communication Technology (ICT) students. *</a:t>
            </a:r>
          </a:p>
          <a:p>
            <a:endParaRPr lang="en-PH" sz="2000" dirty="0"/>
          </a:p>
        </p:txBody>
      </p:sp>
    </p:spTree>
    <p:extLst>
      <p:ext uri="{BB962C8B-B14F-4D97-AF65-F5344CB8AC3E}">
        <p14:creationId xmlns:p14="http://schemas.microsoft.com/office/powerpoint/2010/main" val="18497764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741747" y="342900"/>
            <a:ext cx="13366687" cy="923330"/>
          </a:xfrm>
          <a:prstGeom prst="rect">
            <a:avLst/>
          </a:prstGeom>
        </p:spPr>
        <p:txBody>
          <a:bodyPr wrap="square" lIns="0" tIns="0" rIns="0" bIns="0" rtlCol="0" anchor="t">
            <a:spAutoFit/>
          </a:bodyPr>
          <a:lstStyle/>
          <a:p>
            <a:r>
              <a:rPr lang="en-US" sz="6000" b="1" dirty="0">
                <a:latin typeface="Book Antiqua" panose="02040602050305030304" pitchFamily="18" charset="0"/>
              </a:rPr>
              <a:t>I. Introduction</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2844508" y="1467434"/>
            <a:ext cx="13631852" cy="583878"/>
          </a:xfrm>
          <a:prstGeom prst="rect">
            <a:avLst/>
          </a:prstGeom>
        </p:spPr>
        <p:txBody>
          <a:bodyPr wrap="square" lIns="0" tIns="0" rIns="0" bIns="0" rtlCol="0" anchor="t">
            <a:spAutoFit/>
          </a:bodyPr>
          <a:lstStyle/>
          <a:p>
            <a:pPr marL="690881" lvl="1" indent="-345440" algn="just">
              <a:lnSpc>
                <a:spcPts val="4480"/>
              </a:lnSpc>
              <a:buFont typeface="Arial"/>
              <a:buChar char="•"/>
            </a:pPr>
            <a:r>
              <a:rPr lang="en-US" sz="4400" b="1" dirty="0">
                <a:solidFill>
                  <a:srgbClr val="000000"/>
                </a:solidFill>
                <a:latin typeface="Book Antiqua" panose="02040602050305030304" pitchFamily="18" charset="0"/>
              </a:rPr>
              <a:t>Scope and Delimitation</a:t>
            </a: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9" name="TextBox 28">
            <a:extLst>
              <a:ext uri="{FF2B5EF4-FFF2-40B4-BE49-F238E27FC236}">
                <a16:creationId xmlns:a16="http://schemas.microsoft.com/office/drawing/2014/main" id="{97533971-F3C0-1688-6CBE-D03CD27E4A22}"/>
              </a:ext>
            </a:extLst>
          </p:cNvPr>
          <p:cNvSpPr txBox="1"/>
          <p:nvPr/>
        </p:nvSpPr>
        <p:spPr>
          <a:xfrm>
            <a:off x="2772283" y="2159057"/>
            <a:ext cx="15637764" cy="7220182"/>
          </a:xfrm>
          <a:prstGeom prst="rect">
            <a:avLst/>
          </a:prstGeom>
          <a:noFill/>
        </p:spPr>
        <p:txBody>
          <a:bodyPr wrap="square">
            <a:spAutoFit/>
          </a:bodyPr>
          <a:lstStyle/>
          <a:p>
            <a:pPr>
              <a:lnSpc>
                <a:spcPct val="150000"/>
              </a:lnSpc>
            </a:pPr>
            <a:r>
              <a:rPr lang="en-PH" sz="2600" dirty="0">
                <a:effectLst/>
                <a:latin typeface="Arial" panose="020B0604020202020204" pitchFamily="34" charset="0"/>
                <a:ea typeface="Arial" panose="020B0604020202020204" pitchFamily="34" charset="0"/>
              </a:rPr>
              <a:t>This study focused on the  Perception of Information and Communication Technology students on the used of Artificial Intelligence the academe. Furthermore, The coverage of this study will be conducted 30 Grade 11 Information and Communication Technology respondents in any genders of Cainta Senior High School.  This study was started on February 8, 2024  and will end on April 30, 2024.</a:t>
            </a:r>
          </a:p>
          <a:p>
            <a:pPr>
              <a:lnSpc>
                <a:spcPct val="150000"/>
              </a:lnSpc>
            </a:pPr>
            <a:r>
              <a:rPr lang="en-PH" sz="2600" dirty="0">
                <a:effectLst/>
                <a:latin typeface="Arial" panose="020B0604020202020204" pitchFamily="34" charset="0"/>
                <a:ea typeface="Arial" panose="020B0604020202020204" pitchFamily="34" charset="0"/>
              </a:rPr>
              <a:t> </a:t>
            </a:r>
          </a:p>
          <a:p>
            <a:pPr>
              <a:lnSpc>
                <a:spcPct val="150000"/>
              </a:lnSpc>
            </a:pPr>
            <a:r>
              <a:rPr lang="en-PH" sz="2600" dirty="0">
                <a:effectLst/>
                <a:latin typeface="Arial" panose="020B0604020202020204" pitchFamily="34" charset="0"/>
                <a:ea typeface="Arial" panose="020B0604020202020204" pitchFamily="34" charset="0"/>
              </a:rPr>
              <a:t>     This study is limited to Grade 11 Information and Communication Technology (ICT) students because the main focused of our study is the perceptions of Grade 11 ICT respondents towards the use of Artificial Intelligence (AI). This study will not cover the perceptions from other grade and strand because the study is focused on Grade 11 ICT students in Cainta Senior high school. This research did not carry out any questions or queries that were not related in the study. By doing so, the researchers were able to shed light on how beneficial the artificial intelligence in academe to the learning as well as evaluate if it's still effective while it continuously advances .</a:t>
            </a:r>
          </a:p>
        </p:txBody>
      </p:sp>
    </p:spTree>
    <p:extLst>
      <p:ext uri="{BB962C8B-B14F-4D97-AF65-F5344CB8AC3E}">
        <p14:creationId xmlns:p14="http://schemas.microsoft.com/office/powerpoint/2010/main" val="40406461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741747" y="367125"/>
            <a:ext cx="13366687" cy="923330"/>
          </a:xfrm>
          <a:prstGeom prst="rect">
            <a:avLst/>
          </a:prstGeom>
        </p:spPr>
        <p:txBody>
          <a:bodyPr wrap="square" lIns="0" tIns="0" rIns="0" bIns="0" rtlCol="0" anchor="t">
            <a:spAutoFit/>
          </a:bodyPr>
          <a:lstStyle/>
          <a:p>
            <a:r>
              <a:rPr lang="en-US" sz="6000" b="1" dirty="0">
                <a:latin typeface="Book Antiqua" panose="02040602050305030304" pitchFamily="18" charset="0"/>
              </a:rPr>
              <a:t>I. Introduction</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3126326" y="1444879"/>
            <a:ext cx="13631852" cy="2899192"/>
          </a:xfrm>
          <a:prstGeom prst="rect">
            <a:avLst/>
          </a:prstGeom>
        </p:spPr>
        <p:txBody>
          <a:bodyPr wrap="square" lIns="0" tIns="0" rIns="0" bIns="0" rtlCol="0" anchor="t">
            <a:spAutoFit/>
          </a:bodyPr>
          <a:lstStyle/>
          <a:p>
            <a:pPr marL="690881" lvl="1" indent="-345440" algn="just">
              <a:lnSpc>
                <a:spcPts val="4480"/>
              </a:lnSpc>
              <a:buFont typeface="Arial"/>
              <a:buChar char="•"/>
            </a:pPr>
            <a:r>
              <a:rPr lang="en-US" sz="4400" b="1" dirty="0">
                <a:latin typeface="Book Antiqua" panose="02040602050305030304" pitchFamily="18" charset="0"/>
              </a:rPr>
              <a:t>Statement of the Problem</a:t>
            </a: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dirty="0">
              <a:latin typeface="Book Antiqua" panose="02040602050305030304" pitchFamily="18" charset="0"/>
            </a:endParaRPr>
          </a:p>
          <a:p>
            <a:pPr marL="690881" lvl="1" indent="-345440" algn="just">
              <a:lnSpc>
                <a:spcPts val="4480"/>
              </a:lnSpc>
              <a:buFont typeface="Arial"/>
              <a:buChar char="•"/>
            </a:pPr>
            <a:endParaRPr lang="en-US" sz="4400" b="1" i="1" dirty="0">
              <a:solidFill>
                <a:srgbClr val="000000"/>
              </a:solidFill>
              <a:latin typeface="Book Antiqua" panose="02040602050305030304" pitchFamily="18" charset="0"/>
            </a:endParaRP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7" name="TextBox 26">
            <a:extLst>
              <a:ext uri="{FF2B5EF4-FFF2-40B4-BE49-F238E27FC236}">
                <a16:creationId xmlns:a16="http://schemas.microsoft.com/office/drawing/2014/main" id="{ABB9982A-EB35-1672-AFC6-FD4CB93B1680}"/>
              </a:ext>
            </a:extLst>
          </p:cNvPr>
          <p:cNvSpPr txBox="1"/>
          <p:nvPr/>
        </p:nvSpPr>
        <p:spPr>
          <a:xfrm>
            <a:off x="3070323" y="2105808"/>
            <a:ext cx="15491194" cy="4975914"/>
          </a:xfrm>
          <a:prstGeom prst="rect">
            <a:avLst/>
          </a:prstGeom>
          <a:noFill/>
        </p:spPr>
        <p:txBody>
          <a:bodyPr wrap="square">
            <a:spAutoFit/>
          </a:bodyPr>
          <a:lstStyle/>
          <a:p>
            <a:pPr>
              <a:lnSpc>
                <a:spcPct val="115000"/>
              </a:lnSpc>
            </a:pPr>
            <a:r>
              <a:rPr lang="en-PH" sz="2400" b="1" dirty="0">
                <a:effectLst/>
                <a:latin typeface="Arial" panose="020B0604020202020204" pitchFamily="34" charset="0"/>
                <a:ea typeface="Arial" panose="020B0604020202020204" pitchFamily="34" charset="0"/>
              </a:rPr>
              <a:t> </a:t>
            </a:r>
            <a:endParaRPr lang="en-PH" sz="1800" dirty="0">
              <a:effectLst/>
              <a:latin typeface="Arial" panose="020B0604020202020204" pitchFamily="34" charset="0"/>
              <a:ea typeface="Arial" panose="020B0604020202020204" pitchFamily="34" charset="0"/>
            </a:endParaRPr>
          </a:p>
          <a:p>
            <a:pPr>
              <a:lnSpc>
                <a:spcPct val="150000"/>
              </a:lnSpc>
            </a:pPr>
            <a:r>
              <a:rPr lang="en-PH" b="1" dirty="0">
                <a:effectLst/>
                <a:latin typeface="Arial" panose="020B0604020202020204" pitchFamily="34" charset="0"/>
                <a:ea typeface="Arial" panose="020B0604020202020204" pitchFamily="34" charset="0"/>
                <a:cs typeface="Arial" panose="020B0604020202020204" pitchFamily="34" charset="0"/>
              </a:rPr>
              <a:t>      </a:t>
            </a:r>
            <a:r>
              <a:rPr lang="en-PH" sz="2800" dirty="0">
                <a:effectLst/>
                <a:latin typeface="Arial" panose="020B0604020202020204" pitchFamily="34" charset="0"/>
                <a:ea typeface="Arial" panose="020B0604020202020204" pitchFamily="34" charset="0"/>
                <a:cs typeface="Arial" panose="020B0604020202020204" pitchFamily="34" charset="0"/>
              </a:rPr>
              <a:t>This study aims to determine perceptions of Information and Communication Technology</a:t>
            </a:r>
          </a:p>
          <a:p>
            <a:pPr>
              <a:lnSpc>
                <a:spcPct val="150000"/>
              </a:lnSpc>
            </a:pPr>
            <a:r>
              <a:rPr lang="en-PH" sz="2800" dirty="0">
                <a:effectLst/>
                <a:latin typeface="Arial" panose="020B0604020202020204" pitchFamily="34" charset="0"/>
                <a:ea typeface="Arial" panose="020B0604020202020204" pitchFamily="34" charset="0"/>
                <a:cs typeface="Arial" panose="020B0604020202020204" pitchFamily="34" charset="0"/>
              </a:rPr>
              <a:t>students on the use of Artificial Intelligence (AI) in the academe.</a:t>
            </a:r>
          </a:p>
          <a:p>
            <a:pPr>
              <a:lnSpc>
                <a:spcPct val="150000"/>
              </a:lnSpc>
            </a:pPr>
            <a:r>
              <a:rPr lang="en-PH" sz="2800" dirty="0">
                <a:effectLst/>
                <a:latin typeface="Arial" panose="020B0604020202020204" pitchFamily="34" charset="0"/>
                <a:ea typeface="Arial" panose="020B0604020202020204" pitchFamily="34" charset="0"/>
                <a:cs typeface="Arial" panose="020B0604020202020204" pitchFamily="34" charset="0"/>
              </a:rPr>
              <a:t>       Specifically, It intends to answer the following questions:</a:t>
            </a:r>
          </a:p>
          <a:p>
            <a:pPr>
              <a:lnSpc>
                <a:spcPct val="150000"/>
              </a:lnSpc>
            </a:pPr>
            <a:r>
              <a:rPr lang="en-PH" sz="2800" dirty="0">
                <a:effectLst/>
                <a:latin typeface="Arial" panose="020B0604020202020204" pitchFamily="34" charset="0"/>
                <a:ea typeface="Arial" panose="020B0604020202020204" pitchFamily="34" charset="0"/>
                <a:cs typeface="Arial" panose="020B0604020202020204" pitchFamily="34" charset="0"/>
              </a:rPr>
              <a:t>1. In what ways do respondents use Al in the academe?</a:t>
            </a:r>
          </a:p>
          <a:p>
            <a:pPr>
              <a:lnSpc>
                <a:spcPct val="150000"/>
              </a:lnSpc>
            </a:pPr>
            <a:r>
              <a:rPr lang="en-PH" sz="2800" dirty="0">
                <a:effectLst/>
                <a:latin typeface="Arial" panose="020B0604020202020204" pitchFamily="34" charset="0"/>
                <a:ea typeface="Arial" panose="020B0604020202020204" pitchFamily="34" charset="0"/>
                <a:cs typeface="Arial" panose="020B0604020202020204" pitchFamily="34" charset="0"/>
              </a:rPr>
              <a:t>2. What are the perceptions of the respondents towards the use of Al in the academe?</a:t>
            </a:r>
          </a:p>
          <a:p>
            <a:pPr>
              <a:lnSpc>
                <a:spcPct val="150000"/>
              </a:lnSpc>
            </a:pPr>
            <a:r>
              <a:rPr lang="en-PH" sz="2800" dirty="0">
                <a:effectLst/>
                <a:latin typeface="Arial" panose="020B0604020202020204" pitchFamily="34" charset="0"/>
                <a:ea typeface="Arial" panose="020B0604020202020204" pitchFamily="34" charset="0"/>
                <a:cs typeface="Arial" panose="020B0604020202020204" pitchFamily="34" charset="0"/>
              </a:rPr>
              <a:t>3. What recommendations can be driven based on the perceptions of the respondents in using Al in the academe?</a:t>
            </a:r>
            <a:endParaRPr lang="en-PH" dirty="0">
              <a:effectLst/>
              <a:latin typeface="Arial" panose="020B0604020202020204" pitchFamily="34" charset="0"/>
              <a:ea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4714384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778313" y="453360"/>
            <a:ext cx="13366687" cy="923330"/>
          </a:xfrm>
          <a:prstGeom prst="rect">
            <a:avLst/>
          </a:prstGeom>
        </p:spPr>
        <p:txBody>
          <a:bodyPr wrap="square" lIns="0" tIns="0" rIns="0" bIns="0" rtlCol="0" anchor="t">
            <a:spAutoFit/>
          </a:bodyPr>
          <a:lstStyle/>
          <a:p>
            <a:r>
              <a:rPr lang="en-US" sz="6000" b="1" dirty="0">
                <a:latin typeface="Book Antiqua" panose="02040602050305030304" pitchFamily="18" charset="0"/>
              </a:rPr>
              <a:t>I. Introduction</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3"/>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4"/>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5"/>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5"/>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3226905" y="1423822"/>
            <a:ext cx="13631852" cy="4046364"/>
          </a:xfrm>
          <a:prstGeom prst="rect">
            <a:avLst/>
          </a:prstGeom>
        </p:spPr>
        <p:txBody>
          <a:bodyPr wrap="square" lIns="0" tIns="0" rIns="0" bIns="0" rtlCol="0" anchor="t">
            <a:spAutoFit/>
          </a:bodyPr>
          <a:lstStyle/>
          <a:p>
            <a:pPr marL="690881" lvl="1" indent="-345440" algn="just">
              <a:lnSpc>
                <a:spcPts val="4480"/>
              </a:lnSpc>
              <a:buFont typeface="Arial"/>
              <a:buChar char="•"/>
            </a:pPr>
            <a:r>
              <a:rPr lang="en-US" sz="4400" b="1" dirty="0">
                <a:solidFill>
                  <a:srgbClr val="000000"/>
                </a:solidFill>
                <a:latin typeface="Book Antiqua" panose="02040602050305030304" pitchFamily="18" charset="0"/>
              </a:rPr>
              <a:t>Significance of the Study</a:t>
            </a: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400" b="1" dirty="0">
              <a:solidFill>
                <a:srgbClr val="000000"/>
              </a:solidFill>
              <a:latin typeface="Book Antiqua" panose="02040602050305030304" pitchFamily="18" charset="0"/>
            </a:endParaRP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7" name="TextBox 26">
            <a:extLst>
              <a:ext uri="{FF2B5EF4-FFF2-40B4-BE49-F238E27FC236}">
                <a16:creationId xmlns:a16="http://schemas.microsoft.com/office/drawing/2014/main" id="{30A54482-C5B4-1140-799E-9B3DEBB3EAF3}"/>
              </a:ext>
            </a:extLst>
          </p:cNvPr>
          <p:cNvSpPr txBox="1"/>
          <p:nvPr/>
        </p:nvSpPr>
        <p:spPr>
          <a:xfrm>
            <a:off x="2908130" y="1974540"/>
            <a:ext cx="15404486" cy="7788671"/>
          </a:xfrm>
          <a:prstGeom prst="rect">
            <a:avLst/>
          </a:prstGeom>
          <a:noFill/>
        </p:spPr>
        <p:txBody>
          <a:bodyPr wrap="square">
            <a:spAutoFit/>
          </a:bodyPr>
          <a:lstStyle/>
          <a:p>
            <a:pPr>
              <a:lnSpc>
                <a:spcPct val="150000"/>
              </a:lnSpc>
            </a:pPr>
            <a:r>
              <a:rPr lang="en-PH" sz="1800" dirty="0">
                <a:effectLst/>
                <a:latin typeface="Arial" panose="020B0604020202020204" pitchFamily="34" charset="0"/>
                <a:ea typeface="Arial" panose="020B0604020202020204" pitchFamily="34" charset="0"/>
              </a:rPr>
              <a:t> </a:t>
            </a:r>
            <a:r>
              <a:rPr lang="en-PH" sz="2400" dirty="0">
                <a:effectLst/>
                <a:latin typeface="Arial" panose="020B0604020202020204" pitchFamily="34" charset="0"/>
                <a:ea typeface="Arial" panose="020B0604020202020204" pitchFamily="34" charset="0"/>
              </a:rPr>
              <a:t>The result of this study is to inform and improve on how to use AI properly to the students, parents, teachers, and future researchers.</a:t>
            </a:r>
          </a:p>
          <a:p>
            <a:pPr>
              <a:lnSpc>
                <a:spcPct val="150000"/>
              </a:lnSpc>
            </a:pPr>
            <a:endParaRPr lang="en-PH" sz="2400" dirty="0">
              <a:effectLst/>
              <a:latin typeface="Arial" panose="020B0604020202020204" pitchFamily="34" charset="0"/>
              <a:ea typeface="Arial" panose="020B0604020202020204" pitchFamily="34" charset="0"/>
            </a:endParaRPr>
          </a:p>
          <a:p>
            <a:pPr>
              <a:lnSpc>
                <a:spcPct val="150000"/>
              </a:lnSpc>
            </a:pPr>
            <a:r>
              <a:rPr lang="en-PH" sz="2400" b="1" dirty="0">
                <a:effectLst/>
                <a:latin typeface="Arial" panose="020B0604020202020204" pitchFamily="34" charset="0"/>
                <a:ea typeface="Arial" panose="020B0604020202020204" pitchFamily="34" charset="0"/>
              </a:rPr>
              <a:t>     </a:t>
            </a:r>
            <a:r>
              <a:rPr lang="en-PH" sz="2400" b="1" u="sng" dirty="0">
                <a:effectLst/>
                <a:latin typeface="Arial" panose="020B0604020202020204" pitchFamily="34" charset="0"/>
                <a:ea typeface="Arial" panose="020B0604020202020204" pitchFamily="34" charset="0"/>
              </a:rPr>
              <a:t>Students</a:t>
            </a:r>
            <a:r>
              <a:rPr lang="en-PH" sz="2400" u="sng" dirty="0">
                <a:effectLst/>
                <a:latin typeface="Arial" panose="020B0604020202020204" pitchFamily="34" charset="0"/>
                <a:ea typeface="Arial" panose="020B0604020202020204" pitchFamily="34" charset="0"/>
              </a:rPr>
              <a:t>.</a:t>
            </a:r>
            <a:r>
              <a:rPr lang="en-PH" sz="2400" dirty="0">
                <a:effectLst/>
                <a:latin typeface="Arial" panose="020B0604020202020204" pitchFamily="34" charset="0"/>
                <a:ea typeface="Arial" panose="020B0604020202020204" pitchFamily="34" charset="0"/>
              </a:rPr>
              <a:t> The result of this study will give them an idea about Artificial Intelligence (AI). In this way, they will gain information and knowledge on the perceptions of the students on the use of AI in academe.</a:t>
            </a:r>
          </a:p>
          <a:p>
            <a:pPr>
              <a:lnSpc>
                <a:spcPct val="150000"/>
              </a:lnSpc>
            </a:pPr>
            <a:endParaRPr lang="en-PH" sz="2400" dirty="0">
              <a:effectLst/>
              <a:latin typeface="Arial" panose="020B0604020202020204" pitchFamily="34" charset="0"/>
              <a:ea typeface="Arial" panose="020B0604020202020204" pitchFamily="34" charset="0"/>
            </a:endParaRPr>
          </a:p>
          <a:p>
            <a:pPr>
              <a:lnSpc>
                <a:spcPct val="150000"/>
              </a:lnSpc>
            </a:pPr>
            <a:r>
              <a:rPr lang="en-PH" sz="2400" dirty="0">
                <a:effectLst/>
                <a:latin typeface="Arial" panose="020B0604020202020204" pitchFamily="34" charset="0"/>
                <a:ea typeface="Arial" panose="020B0604020202020204" pitchFamily="34" charset="0"/>
              </a:rPr>
              <a:t>     </a:t>
            </a:r>
            <a:r>
              <a:rPr lang="en-PH" sz="2400" b="1" u="sng" dirty="0">
                <a:effectLst/>
                <a:latin typeface="Arial" panose="020B0604020202020204" pitchFamily="34" charset="0"/>
                <a:ea typeface="Arial" panose="020B0604020202020204" pitchFamily="34" charset="0"/>
              </a:rPr>
              <a:t>Parents.</a:t>
            </a:r>
            <a:r>
              <a:rPr lang="en-PH" sz="2400" dirty="0">
                <a:effectLst/>
                <a:latin typeface="Arial" panose="020B0604020202020204" pitchFamily="34" charset="0"/>
                <a:ea typeface="Arial" panose="020B0604020202020204" pitchFamily="34" charset="0"/>
              </a:rPr>
              <a:t> This research will raise awareness for those parents that have no idea of AI. Moreover, this would help them to be concerned for their children. And to help about children to improve their full potential by reading and understanding.</a:t>
            </a:r>
            <a:endParaRPr lang="en-PH" sz="2400" dirty="0">
              <a:latin typeface="Arial" panose="020B0604020202020204" pitchFamily="34" charset="0"/>
              <a:ea typeface="Arial" panose="020B0604020202020204" pitchFamily="34" charset="0"/>
            </a:endParaRPr>
          </a:p>
          <a:p>
            <a:pPr>
              <a:lnSpc>
                <a:spcPct val="150000"/>
              </a:lnSpc>
            </a:pPr>
            <a:endParaRPr lang="en-PH" sz="2400" dirty="0">
              <a:effectLst/>
              <a:latin typeface="Arial" panose="020B0604020202020204" pitchFamily="34" charset="0"/>
              <a:ea typeface="Arial" panose="020B0604020202020204" pitchFamily="34" charset="0"/>
            </a:endParaRPr>
          </a:p>
          <a:p>
            <a:pPr>
              <a:lnSpc>
                <a:spcPct val="150000"/>
              </a:lnSpc>
            </a:pPr>
            <a:r>
              <a:rPr lang="en-PH" sz="2400" dirty="0">
                <a:effectLst/>
                <a:latin typeface="Arial" panose="020B0604020202020204" pitchFamily="34" charset="0"/>
                <a:ea typeface="Arial" panose="020B0604020202020204" pitchFamily="34" charset="0"/>
              </a:rPr>
              <a:t>     </a:t>
            </a:r>
            <a:r>
              <a:rPr lang="en-PH" sz="2400" b="1" u="sng" dirty="0">
                <a:effectLst/>
                <a:latin typeface="Arial" panose="020B0604020202020204" pitchFamily="34" charset="0"/>
                <a:ea typeface="Arial" panose="020B0604020202020204" pitchFamily="34" charset="0"/>
              </a:rPr>
              <a:t>Teachers.</a:t>
            </a:r>
            <a:r>
              <a:rPr lang="en-PH" sz="2400" dirty="0">
                <a:effectLst/>
                <a:latin typeface="Arial" panose="020B0604020202020204" pitchFamily="34" charset="0"/>
                <a:ea typeface="Arial" panose="020B0604020202020204" pitchFamily="34" charset="0"/>
              </a:rPr>
              <a:t> This research will help teachers to know other things about AI and share the content of this paper.</a:t>
            </a:r>
            <a:r>
              <a:rPr lang="en-PH" sz="1600" dirty="0">
                <a:solidFill>
                  <a:srgbClr val="414141"/>
                </a:solidFill>
                <a:effectLst/>
                <a:highlight>
                  <a:srgbClr val="FFFFFF"/>
                </a:highlight>
                <a:latin typeface="Arial" panose="020B0604020202020204" pitchFamily="34" charset="0"/>
                <a:ea typeface="Arial" panose="020B0604020202020204" pitchFamily="34" charset="0"/>
              </a:rPr>
              <a:t> </a:t>
            </a:r>
            <a:endParaRPr lang="en-PH" sz="2400" dirty="0">
              <a:solidFill>
                <a:srgbClr val="414141"/>
              </a:solidFill>
              <a:highlight>
                <a:srgbClr val="FFFFFF"/>
              </a:highlight>
              <a:latin typeface="Arial" panose="020B0604020202020204" pitchFamily="34" charset="0"/>
              <a:ea typeface="Arial" panose="020B0604020202020204" pitchFamily="34" charset="0"/>
            </a:endParaRPr>
          </a:p>
          <a:p>
            <a:pPr>
              <a:lnSpc>
                <a:spcPct val="150000"/>
              </a:lnSpc>
            </a:pPr>
            <a:endParaRPr lang="en-PH" sz="2400" dirty="0">
              <a:effectLst/>
              <a:latin typeface="Arial" panose="020B0604020202020204" pitchFamily="34" charset="0"/>
              <a:ea typeface="Arial" panose="020B0604020202020204" pitchFamily="34" charset="0"/>
            </a:endParaRPr>
          </a:p>
          <a:p>
            <a:pPr>
              <a:lnSpc>
                <a:spcPct val="150000"/>
              </a:lnSpc>
            </a:pPr>
            <a:r>
              <a:rPr lang="en-PH" sz="2400" dirty="0">
                <a:effectLst/>
                <a:latin typeface="Arial" panose="020B0604020202020204" pitchFamily="34" charset="0"/>
                <a:ea typeface="Arial" panose="020B0604020202020204" pitchFamily="34" charset="0"/>
              </a:rPr>
              <a:t>     </a:t>
            </a:r>
            <a:r>
              <a:rPr lang="en-PH" sz="2400" b="1" u="sng" dirty="0">
                <a:effectLst/>
                <a:latin typeface="Arial" panose="020B0604020202020204" pitchFamily="34" charset="0"/>
                <a:ea typeface="Arial" panose="020B0604020202020204" pitchFamily="34" charset="0"/>
              </a:rPr>
              <a:t>Future Researchers</a:t>
            </a:r>
            <a:r>
              <a:rPr lang="en-PH" sz="2400" dirty="0">
                <a:effectLst/>
                <a:latin typeface="Arial" panose="020B0604020202020204" pitchFamily="34" charset="0"/>
                <a:ea typeface="Arial" panose="020B0604020202020204" pitchFamily="34" charset="0"/>
              </a:rPr>
              <a:t>. This research will help future researchers to do similar studies. Using this research paper they can use it as a source of relevant data.</a:t>
            </a:r>
            <a:endParaRPr lang="en-PH" sz="2400" dirty="0"/>
          </a:p>
        </p:txBody>
      </p:sp>
    </p:spTree>
    <p:extLst>
      <p:ext uri="{BB962C8B-B14F-4D97-AF65-F5344CB8AC3E}">
        <p14:creationId xmlns:p14="http://schemas.microsoft.com/office/powerpoint/2010/main" val="27070809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39624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126326" y="453360"/>
            <a:ext cx="14806813" cy="738664"/>
          </a:xfrm>
          <a:prstGeom prst="rect">
            <a:avLst/>
          </a:prstGeom>
        </p:spPr>
        <p:txBody>
          <a:bodyPr wrap="square" lIns="0" tIns="0" rIns="0" bIns="0" rtlCol="0" anchor="t">
            <a:spAutoFit/>
          </a:bodyPr>
          <a:lstStyle/>
          <a:p>
            <a:r>
              <a:rPr lang="en-US" sz="4800" b="1" dirty="0">
                <a:latin typeface="Book Antiqua" panose="02040602050305030304" pitchFamily="18" charset="0"/>
              </a:rPr>
              <a:t>Review of Related Literature </a:t>
            </a:r>
            <a:r>
              <a:rPr lang="en-US" sz="4800" b="1" i="1" dirty="0">
                <a:solidFill>
                  <a:srgbClr val="000000"/>
                </a:solidFill>
                <a:latin typeface="Book Antiqua" panose="02040602050305030304" pitchFamily="18" charset="0"/>
              </a:rPr>
              <a:t>(author, synthesis)</a:t>
            </a: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5" name="TextBox 24">
            <a:extLst>
              <a:ext uri="{FF2B5EF4-FFF2-40B4-BE49-F238E27FC236}">
                <a16:creationId xmlns:a16="http://schemas.microsoft.com/office/drawing/2014/main" id="{C27802F5-5CBB-7383-24D5-26ABF76019C3}"/>
              </a:ext>
            </a:extLst>
          </p:cNvPr>
          <p:cNvSpPr txBox="1"/>
          <p:nvPr/>
        </p:nvSpPr>
        <p:spPr>
          <a:xfrm>
            <a:off x="2907612" y="1350449"/>
            <a:ext cx="14376635" cy="7478970"/>
          </a:xfrm>
          <a:prstGeom prst="rect">
            <a:avLst/>
          </a:prstGeom>
          <a:noFill/>
        </p:spPr>
        <p:txBody>
          <a:bodyPr wrap="square">
            <a:spAutoFit/>
          </a:bodyPr>
          <a:lstStyle/>
          <a:p>
            <a:r>
              <a:rPr lang="en-US" sz="2400" b="0" i="0" dirty="0">
                <a:effectLst/>
                <a:latin typeface="Segoe UI Historic" panose="020B0502040204020203" pitchFamily="34" charset="0"/>
              </a:rPr>
              <a:t>Artificial Intelligence usage has influenced the learning environment in the Philippines. The application/website has its advantages and disadvantages for the perceptions of students and teachers. According to Dian </a:t>
            </a:r>
            <a:r>
              <a:rPr lang="en-US" sz="2400" b="0" i="0" dirty="0" err="1">
                <a:effectLst/>
                <a:latin typeface="Segoe UI Historic" panose="020B0502040204020203" pitchFamily="34" charset="0"/>
              </a:rPr>
              <a:t>Toar</a:t>
            </a:r>
            <a:r>
              <a:rPr lang="en-US" sz="2400" b="0" i="0" dirty="0">
                <a:effectLst/>
                <a:latin typeface="Segoe UI Historic" panose="020B0502040204020203" pitchFamily="34" charset="0"/>
              </a:rPr>
              <a:t> Y. G (2021), there are several things to consider when integrating AI in academia such as their usefulness and usage behavior. Positive perceptions towards AI technology have been observed among students in their studies. The benefits include improvement in the writing process and learning grammar and vocabulary items. As AI becomes more popular by the day, Pereira et al. (2023) note that AI is frequently used by students in their daily lives. There is no significant difference in students' perceptions of AI regarding their roles as students and in their learning process. Educators can impose limitations on using AI to instill more discipline in their education and learning processes. Educators can also modify their methods of educating students using AI. R. Kumar (2022) indicated that students perceive AI as usable in academia. Educators can implement different learning strategies and processes, academic administration processes, and admission and examination based on student responses. ChatGPT (Chat Generative Pre-trained Transformer) is an online AI application/website that assists users with prompts. I. </a:t>
            </a:r>
            <a:r>
              <a:rPr lang="en-US" sz="2400" b="0" i="0" dirty="0" err="1">
                <a:effectLst/>
                <a:latin typeface="Segoe UI Historic" panose="020B0502040204020203" pitchFamily="34" charset="0"/>
              </a:rPr>
              <a:t>Valova</a:t>
            </a:r>
            <a:r>
              <a:rPr lang="en-US" sz="2400" b="0" i="0" dirty="0">
                <a:effectLst/>
                <a:latin typeface="Segoe UI Historic" panose="020B0502040204020203" pitchFamily="34" charset="0"/>
              </a:rPr>
              <a:t> (2024) discusses various perspectives on the benefits and challenges of incorporating ChatGPT in the learning process. There are instances where a learner might be in danger of learning false, generalized information, deception, and fraud, but with ChatGPT, it has systematized sources of information found on the internet. Logical thinking should be applied by students when using AI to avoid misconceptions and false information. The concept of AI helps students and educators expand their understanding and wisdom regarding certain information found all around the internet. The involved parties should be mindful of its uses and advantages.</a:t>
            </a:r>
            <a:endParaRPr lang="en-PH" sz="2400" dirty="0"/>
          </a:p>
        </p:txBody>
      </p:sp>
    </p:spTree>
    <p:extLst>
      <p:ext uri="{BB962C8B-B14F-4D97-AF65-F5344CB8AC3E}">
        <p14:creationId xmlns:p14="http://schemas.microsoft.com/office/powerpoint/2010/main" val="30217813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914900" y="-4052123"/>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674172" y="355085"/>
            <a:ext cx="14348660" cy="923330"/>
          </a:xfrm>
          <a:prstGeom prst="rect">
            <a:avLst/>
          </a:prstGeom>
        </p:spPr>
        <p:txBody>
          <a:bodyPr wrap="square" lIns="0" tIns="0" rIns="0" bIns="0" rtlCol="0" anchor="t">
            <a:spAutoFit/>
          </a:bodyPr>
          <a:lstStyle/>
          <a:p>
            <a:r>
              <a:rPr lang="en-US" sz="6000" b="1" dirty="0">
                <a:latin typeface="Book Antiqua" panose="02040602050305030304" pitchFamily="18" charset="0"/>
              </a:rPr>
              <a:t>II. Methodology </a:t>
            </a:r>
            <a:r>
              <a:rPr lang="en-US" sz="3600" b="1" i="1" dirty="0">
                <a:solidFill>
                  <a:srgbClr val="000000"/>
                </a:solidFill>
                <a:latin typeface="Book Antiqua" panose="02040602050305030304" pitchFamily="18" charset="0"/>
              </a:rPr>
              <a:t>(direct; one statement/specific terms)</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2891963" y="1290572"/>
            <a:ext cx="15656290" cy="6922408"/>
          </a:xfrm>
          <a:prstGeom prst="rect">
            <a:avLst/>
          </a:prstGeom>
        </p:spPr>
        <p:txBody>
          <a:bodyPr wrap="square" lIns="0" tIns="0" rIns="0" bIns="0" rtlCol="0" anchor="t">
            <a:spAutoFit/>
          </a:bodyPr>
          <a:lstStyle/>
          <a:p>
            <a:pPr marL="690881" lvl="1" indent="-345440" algn="just">
              <a:lnSpc>
                <a:spcPts val="4480"/>
              </a:lnSpc>
              <a:buFont typeface="Arial"/>
              <a:buChar char="•"/>
            </a:pPr>
            <a:r>
              <a:rPr lang="en-US" sz="4800" b="1" dirty="0">
                <a:solidFill>
                  <a:srgbClr val="000000"/>
                </a:solidFill>
                <a:latin typeface="Book Antiqua" panose="02040602050305030304" pitchFamily="18" charset="0"/>
              </a:rPr>
              <a:t>Research Design </a:t>
            </a:r>
          </a:p>
          <a:p>
            <a:pPr marL="345441" lvl="1" algn="just">
              <a:lnSpc>
                <a:spcPts val="4480"/>
              </a:lnSpc>
            </a:pPr>
            <a:r>
              <a:rPr lang="en-US" dirty="0">
                <a:solidFill>
                  <a:srgbClr val="000000"/>
                </a:solidFill>
                <a:latin typeface="Arial" panose="020B0604020202020204" pitchFamily="34" charset="0"/>
                <a:cs typeface="Arial" panose="020B0604020202020204" pitchFamily="34" charset="0"/>
              </a:rPr>
              <a:t>This study was designed as a qualitative study that used discourse or conversation analysis method. Since this study was conducted to know and understand every perception of the students, parents, teachers, and future researchers about to the use of Artificial Intelligence (AI) in the academe</a:t>
            </a:r>
            <a:r>
              <a:rPr lang="en-US" b="1" dirty="0">
                <a:solidFill>
                  <a:srgbClr val="000000"/>
                </a:solidFill>
                <a:latin typeface="Arial" panose="020B0604020202020204" pitchFamily="34" charset="0"/>
                <a:cs typeface="Arial" panose="020B0604020202020204" pitchFamily="34" charset="0"/>
              </a:rPr>
              <a:t>. </a:t>
            </a:r>
            <a:endParaRPr lang="en-US" sz="4400" b="1" dirty="0">
              <a:solidFill>
                <a:srgbClr val="000000"/>
              </a:solidFill>
              <a:latin typeface="Arial" panose="020B0604020202020204" pitchFamily="34" charset="0"/>
              <a:cs typeface="Arial" panose="020B0604020202020204" pitchFamily="34" charset="0"/>
            </a:endParaRPr>
          </a:p>
          <a:p>
            <a:pPr marL="690881" lvl="1" indent="-345440" algn="just">
              <a:lnSpc>
                <a:spcPts val="4480"/>
              </a:lnSpc>
              <a:buFont typeface="Arial"/>
              <a:buChar char="•"/>
            </a:pPr>
            <a:r>
              <a:rPr lang="en-US" sz="4800" b="1" dirty="0">
                <a:solidFill>
                  <a:srgbClr val="000000"/>
                </a:solidFill>
                <a:latin typeface="Book Antiqua" panose="02040602050305030304" pitchFamily="18" charset="0"/>
              </a:rPr>
              <a:t>Participants/Sampling</a:t>
            </a:r>
          </a:p>
          <a:p>
            <a:pPr marL="345441" lvl="1" algn="just">
              <a:lnSpc>
                <a:spcPts val="4480"/>
              </a:lnSpc>
            </a:pPr>
            <a:r>
              <a:rPr lang="en-PH" sz="1800" dirty="0">
                <a:effectLst/>
                <a:latin typeface="Arial" panose="020B0604020202020204" pitchFamily="34" charset="0"/>
                <a:ea typeface="Arial" panose="020B0604020202020204" pitchFamily="34" charset="0"/>
                <a:cs typeface="Arial" panose="020B0604020202020204" pitchFamily="34" charset="0"/>
              </a:rPr>
              <a:t> The researchers used purposive sampling technique because is a manifestation of determination in studying to achieve a goal or aspiration. By the researchers which was conducted in Cainta senior high school. The specific respondents who were capable of answering the question they had prepared from among the populations of 30-50 respondents per subgroup</a:t>
            </a:r>
            <a:endParaRPr lang="en-US" sz="4800" b="1" dirty="0">
              <a:solidFill>
                <a:srgbClr val="000000"/>
              </a:solidFill>
              <a:latin typeface="Arial" panose="020B0604020202020204" pitchFamily="34" charset="0"/>
              <a:cs typeface="Arial" panose="020B0604020202020204" pitchFamily="34" charset="0"/>
            </a:endParaRPr>
          </a:p>
          <a:p>
            <a:pPr marL="690881" lvl="1" indent="-345440" algn="just">
              <a:lnSpc>
                <a:spcPts val="4480"/>
              </a:lnSpc>
              <a:buFont typeface="Arial"/>
              <a:buChar char="•"/>
            </a:pPr>
            <a:r>
              <a:rPr lang="en-US" sz="4800" b="1" dirty="0">
                <a:solidFill>
                  <a:srgbClr val="000000"/>
                </a:solidFill>
                <a:latin typeface="Book Antiqua" panose="02040602050305030304" pitchFamily="18" charset="0"/>
              </a:rPr>
              <a:t>Research Instruments</a:t>
            </a:r>
          </a:p>
          <a:p>
            <a:r>
              <a:rPr lang="en-US" dirty="0">
                <a:latin typeface="Arial" panose="020B0604020202020204" pitchFamily="34" charset="0"/>
                <a:cs typeface="Arial" panose="020B0604020202020204" pitchFamily="34" charset="0"/>
              </a:rPr>
              <a:t>       An interview method is used to gather data in this study. Interviews are the most efficient method for qualitative research because it enables to explain, better understand, and investigate the behavior, experiences, and phenomena of your study participants.</a:t>
            </a:r>
            <a:endParaRPr lang="en-US" sz="48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800" b="1" dirty="0">
              <a:solidFill>
                <a:srgbClr val="000000"/>
              </a:solidFill>
              <a:latin typeface="Book Antiqua" panose="02040602050305030304" pitchFamily="18" charset="0"/>
            </a:endParaRPr>
          </a:p>
          <a:p>
            <a:pPr marL="345441" lvl="1" algn="just">
              <a:lnSpc>
                <a:spcPts val="4480"/>
              </a:lnSpc>
            </a:pPr>
            <a:endParaRPr lang="en-US" sz="4800" b="1" dirty="0">
              <a:solidFill>
                <a:srgbClr val="000000"/>
              </a:solidFill>
              <a:latin typeface="Book Antiqua" panose="02040602050305030304" pitchFamily="18" charset="0"/>
            </a:endParaRPr>
          </a:p>
          <a:p>
            <a:pPr marL="690881" lvl="1" indent="-345440" algn="just">
              <a:lnSpc>
                <a:spcPts val="4480"/>
              </a:lnSpc>
              <a:buFont typeface="Arial"/>
              <a:buChar char="•"/>
            </a:pPr>
            <a:r>
              <a:rPr lang="en-US" sz="4800" b="1" dirty="0">
                <a:solidFill>
                  <a:srgbClr val="000000"/>
                </a:solidFill>
                <a:latin typeface="Book Antiqua" panose="02040602050305030304" pitchFamily="18" charset="0"/>
              </a:rPr>
              <a:t> </a:t>
            </a: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Tree>
    <p:extLst>
      <p:ext uri="{BB962C8B-B14F-4D97-AF65-F5344CB8AC3E}">
        <p14:creationId xmlns:p14="http://schemas.microsoft.com/office/powerpoint/2010/main" val="37287065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4000500" y="-4000500"/>
            <a:ext cx="10287000" cy="18288000"/>
            <a:chOff x="0" y="0"/>
            <a:chExt cx="7088431" cy="12601655"/>
          </a:xfrm>
        </p:grpSpPr>
        <p:sp>
          <p:nvSpPr>
            <p:cNvPr id="3" name="Freeform 3"/>
            <p:cNvSpPr/>
            <p:nvPr/>
          </p:nvSpPr>
          <p:spPr>
            <a:xfrm>
              <a:off x="0" y="0"/>
              <a:ext cx="7088431" cy="12601655"/>
            </a:xfrm>
            <a:custGeom>
              <a:avLst/>
              <a:gdLst/>
              <a:ahLst/>
              <a:cxnLst/>
              <a:rect l="l" t="t" r="r" b="b"/>
              <a:pathLst>
                <a:path w="7088431" h="12601655">
                  <a:moveTo>
                    <a:pt x="0" y="0"/>
                  </a:moveTo>
                  <a:lnTo>
                    <a:pt x="7088431" y="0"/>
                  </a:lnTo>
                  <a:lnTo>
                    <a:pt x="7088431" y="12601655"/>
                  </a:lnTo>
                  <a:lnTo>
                    <a:pt x="0" y="12601655"/>
                  </a:lnTo>
                  <a:close/>
                </a:path>
              </a:pathLst>
            </a:custGeom>
            <a:solidFill>
              <a:srgbClr val="FFFFFF"/>
            </a:solidFill>
          </p:spPr>
          <p:txBody>
            <a:bodyPr/>
            <a:lstStyle/>
            <a:p>
              <a:endParaRPr lang="en-PH"/>
            </a:p>
          </p:txBody>
        </p:sp>
        <p:sp>
          <p:nvSpPr>
            <p:cNvPr id="4" name="TextBox 4"/>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sp>
        <p:nvSpPr>
          <p:cNvPr id="5" name="TextBox 5"/>
          <p:cNvSpPr txBox="1"/>
          <p:nvPr/>
        </p:nvSpPr>
        <p:spPr>
          <a:xfrm>
            <a:off x="3674172" y="355085"/>
            <a:ext cx="13366687" cy="923330"/>
          </a:xfrm>
          <a:prstGeom prst="rect">
            <a:avLst/>
          </a:prstGeom>
        </p:spPr>
        <p:txBody>
          <a:bodyPr wrap="square" lIns="0" tIns="0" rIns="0" bIns="0" rtlCol="0" anchor="t">
            <a:spAutoFit/>
          </a:bodyPr>
          <a:lstStyle/>
          <a:p>
            <a:r>
              <a:rPr lang="en-US" sz="6000" b="1" dirty="0">
                <a:latin typeface="Book Antiqua" panose="02040602050305030304" pitchFamily="18" charset="0"/>
              </a:rPr>
              <a:t>II. Methodology</a:t>
            </a:r>
            <a:endParaRPr lang="en-US" sz="6000" b="1" dirty="0">
              <a:solidFill>
                <a:srgbClr val="000000"/>
              </a:solidFill>
              <a:latin typeface="Book Antiqua" panose="02040602050305030304" pitchFamily="18" charset="0"/>
            </a:endParaRPr>
          </a:p>
        </p:txBody>
      </p:sp>
      <p:pic>
        <p:nvPicPr>
          <p:cNvPr id="6" name="Picture 6"/>
          <p:cNvPicPr>
            <a:picLocks noChangeAspect="1"/>
          </p:cNvPicPr>
          <p:nvPr/>
        </p:nvPicPr>
        <p:blipFill>
          <a:blip r:embed="rId2"/>
          <a:srcRect/>
          <a:stretch>
            <a:fillRect/>
          </a:stretch>
        </p:blipFill>
        <p:spPr>
          <a:xfrm>
            <a:off x="15161855" y="9144532"/>
            <a:ext cx="880950" cy="822774"/>
          </a:xfrm>
          <a:prstGeom prst="rect">
            <a:avLst/>
          </a:prstGeom>
        </p:spPr>
      </p:pic>
      <p:sp>
        <p:nvSpPr>
          <p:cNvPr id="7" name="TextBox 7"/>
          <p:cNvSpPr txBox="1"/>
          <p:nvPr/>
        </p:nvSpPr>
        <p:spPr>
          <a:xfrm>
            <a:off x="16139522" y="9263878"/>
            <a:ext cx="1793619" cy="292041"/>
          </a:xfrm>
          <a:prstGeom prst="rect">
            <a:avLst/>
          </a:prstGeom>
        </p:spPr>
        <p:txBody>
          <a:bodyPr lIns="0" tIns="0" rIns="0" bIns="0" rtlCol="0" anchor="t">
            <a:spAutoFit/>
          </a:bodyPr>
          <a:lstStyle/>
          <a:p>
            <a:pPr>
              <a:lnSpc>
                <a:spcPts val="2336"/>
              </a:lnSpc>
            </a:pPr>
            <a:r>
              <a:rPr lang="en-US" sz="1668">
                <a:solidFill>
                  <a:srgbClr val="000000"/>
                </a:solidFill>
                <a:latin typeface="Open Sauce SemiBold"/>
              </a:rPr>
              <a:t>Cainta</a:t>
            </a:r>
          </a:p>
        </p:txBody>
      </p:sp>
      <p:sp>
        <p:nvSpPr>
          <p:cNvPr id="8" name="TextBox 8"/>
          <p:cNvSpPr txBox="1"/>
          <p:nvPr/>
        </p:nvSpPr>
        <p:spPr>
          <a:xfrm>
            <a:off x="16139522" y="9527345"/>
            <a:ext cx="2148478" cy="233997"/>
          </a:xfrm>
          <a:prstGeom prst="rect">
            <a:avLst/>
          </a:prstGeom>
        </p:spPr>
        <p:txBody>
          <a:bodyPr lIns="0" tIns="0" rIns="0" bIns="0" rtlCol="0" anchor="t">
            <a:spAutoFit/>
          </a:bodyPr>
          <a:lstStyle/>
          <a:p>
            <a:pPr>
              <a:lnSpc>
                <a:spcPts val="1920"/>
              </a:lnSpc>
            </a:pPr>
            <a:r>
              <a:rPr lang="en-US" sz="1371">
                <a:solidFill>
                  <a:srgbClr val="000000"/>
                </a:solidFill>
                <a:latin typeface="Open Sauce SemiBold"/>
              </a:rPr>
              <a:t>Senior High School</a:t>
            </a:r>
          </a:p>
        </p:txBody>
      </p:sp>
      <p:pic>
        <p:nvPicPr>
          <p:cNvPr id="9" name="Picture 9"/>
          <p:cNvPicPr>
            <a:picLocks noChangeAspect="1"/>
          </p:cNvPicPr>
          <p:nvPr/>
        </p:nvPicPr>
        <p:blipFill>
          <a:blip r:embed="rId3"/>
          <a:srcRect l="26428" t="27849" r="56678"/>
          <a:stretch>
            <a:fillRect/>
          </a:stretch>
        </p:blipFill>
        <p:spPr>
          <a:xfrm>
            <a:off x="0" y="16155"/>
            <a:ext cx="2404735" cy="10270845"/>
          </a:xfrm>
          <a:prstGeom prst="rect">
            <a:avLst/>
          </a:prstGeom>
        </p:spPr>
      </p:pic>
      <p:grpSp>
        <p:nvGrpSpPr>
          <p:cNvPr id="10" name="Group 10"/>
          <p:cNvGrpSpPr/>
          <p:nvPr/>
        </p:nvGrpSpPr>
        <p:grpSpPr>
          <a:xfrm rot="5400000">
            <a:off x="-3941132" y="3941132"/>
            <a:ext cx="10287000" cy="2404735"/>
            <a:chOff x="0" y="0"/>
            <a:chExt cx="7088431" cy="1657024"/>
          </a:xfrm>
        </p:grpSpPr>
        <p:sp>
          <p:nvSpPr>
            <p:cNvPr id="11" name="Freeform 11"/>
            <p:cNvSpPr/>
            <p:nvPr/>
          </p:nvSpPr>
          <p:spPr>
            <a:xfrm>
              <a:off x="0" y="0"/>
              <a:ext cx="7088431" cy="1657023"/>
            </a:xfrm>
            <a:custGeom>
              <a:avLst/>
              <a:gdLst/>
              <a:ahLst/>
              <a:cxnLst/>
              <a:rect l="l" t="t" r="r" b="b"/>
              <a:pathLst>
                <a:path w="7088431" h="1657023">
                  <a:moveTo>
                    <a:pt x="0" y="0"/>
                  </a:moveTo>
                  <a:lnTo>
                    <a:pt x="7088431" y="0"/>
                  </a:lnTo>
                  <a:lnTo>
                    <a:pt x="7088431" y="1657023"/>
                  </a:lnTo>
                  <a:lnTo>
                    <a:pt x="0" y="1657023"/>
                  </a:lnTo>
                  <a:close/>
                </a:path>
              </a:pathLst>
            </a:custGeom>
            <a:solidFill>
              <a:srgbClr val="025492">
                <a:alpha val="68627"/>
              </a:srgbClr>
            </a:solidFill>
          </p:spPr>
          <p:txBody>
            <a:bodyPr/>
            <a:lstStyle/>
            <a:p>
              <a:endParaRPr lang="en-PH"/>
            </a:p>
          </p:txBody>
        </p:sp>
        <p:sp>
          <p:nvSpPr>
            <p:cNvPr id="12" name="TextBox 12"/>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3" name="Picture 13"/>
          <p:cNvPicPr>
            <a:picLocks noChangeAspect="1"/>
          </p:cNvPicPr>
          <p:nvPr/>
        </p:nvPicPr>
        <p:blipFill>
          <a:blip r:embed="rId4"/>
          <a:srcRect t="94779" b="614"/>
          <a:stretch>
            <a:fillRect/>
          </a:stretch>
        </p:blipFill>
        <p:spPr>
          <a:xfrm rot="-5400000">
            <a:off x="-2290914" y="5012419"/>
            <a:ext cx="10270845" cy="278318"/>
          </a:xfrm>
          <a:prstGeom prst="rect">
            <a:avLst/>
          </a:prstGeom>
        </p:spPr>
      </p:pic>
      <p:grpSp>
        <p:nvGrpSpPr>
          <p:cNvPr id="14" name="Group 14"/>
          <p:cNvGrpSpPr/>
          <p:nvPr/>
        </p:nvGrpSpPr>
        <p:grpSpPr>
          <a:xfrm rot="5400000">
            <a:off x="-2588458" y="4993193"/>
            <a:ext cx="10287000" cy="300614"/>
            <a:chOff x="0" y="0"/>
            <a:chExt cx="7088431" cy="207143"/>
          </a:xfrm>
        </p:grpSpPr>
        <p:sp>
          <p:nvSpPr>
            <p:cNvPr id="15" name="Freeform 15"/>
            <p:cNvSpPr/>
            <p:nvPr/>
          </p:nvSpPr>
          <p:spPr>
            <a:xfrm>
              <a:off x="0" y="0"/>
              <a:ext cx="7088431" cy="207143"/>
            </a:xfrm>
            <a:custGeom>
              <a:avLst/>
              <a:gdLst/>
              <a:ahLst/>
              <a:cxnLst/>
              <a:rect l="l" t="t" r="r" b="b"/>
              <a:pathLst>
                <a:path w="7088431" h="207143">
                  <a:moveTo>
                    <a:pt x="0" y="0"/>
                  </a:moveTo>
                  <a:lnTo>
                    <a:pt x="7088431" y="0"/>
                  </a:lnTo>
                  <a:lnTo>
                    <a:pt x="7088431" y="207143"/>
                  </a:lnTo>
                  <a:lnTo>
                    <a:pt x="0" y="207143"/>
                  </a:lnTo>
                  <a:close/>
                </a:path>
              </a:pathLst>
            </a:custGeom>
            <a:solidFill>
              <a:srgbClr val="FFDE59"/>
            </a:solidFill>
          </p:spPr>
          <p:txBody>
            <a:bodyPr/>
            <a:lstStyle/>
            <a:p>
              <a:endParaRPr lang="en-PH"/>
            </a:p>
          </p:txBody>
        </p:sp>
        <p:sp>
          <p:nvSpPr>
            <p:cNvPr id="16" name="TextBox 16"/>
            <p:cNvSpPr txBox="1"/>
            <p:nvPr/>
          </p:nvSpPr>
          <p:spPr>
            <a:xfrm>
              <a:off x="0" y="-19050"/>
              <a:ext cx="812800" cy="831850"/>
            </a:xfrm>
            <a:prstGeom prst="rect">
              <a:avLst/>
            </a:prstGeom>
          </p:spPr>
          <p:txBody>
            <a:bodyPr lIns="26421" tIns="26421" rIns="26421" bIns="26421" rtlCol="0" anchor="ctr"/>
            <a:lstStyle/>
            <a:p>
              <a:pPr algn="ctr">
                <a:lnSpc>
                  <a:spcPts val="1019"/>
                </a:lnSpc>
              </a:pPr>
              <a:endParaRPr/>
            </a:p>
          </p:txBody>
        </p:sp>
      </p:grpSp>
      <p:pic>
        <p:nvPicPr>
          <p:cNvPr id="17" name="Picture 17"/>
          <p:cNvPicPr>
            <a:picLocks noChangeAspect="1"/>
          </p:cNvPicPr>
          <p:nvPr/>
        </p:nvPicPr>
        <p:blipFill>
          <a:blip r:embed="rId4"/>
          <a:srcRect t="94570" r="54986" b="405"/>
          <a:stretch>
            <a:fillRect/>
          </a:stretch>
        </p:blipFill>
        <p:spPr>
          <a:xfrm rot="8359178">
            <a:off x="-153145" y="9120328"/>
            <a:ext cx="2768000" cy="181760"/>
          </a:xfrm>
          <a:prstGeom prst="rect">
            <a:avLst/>
          </a:prstGeom>
        </p:spPr>
      </p:pic>
      <p:grpSp>
        <p:nvGrpSpPr>
          <p:cNvPr id="18" name="Group 18"/>
          <p:cNvGrpSpPr/>
          <p:nvPr/>
        </p:nvGrpSpPr>
        <p:grpSpPr>
          <a:xfrm rot="8347717">
            <a:off x="-5321530" y="11224480"/>
            <a:ext cx="10240327" cy="3886931"/>
            <a:chOff x="0" y="0"/>
            <a:chExt cx="4934111" cy="1872846"/>
          </a:xfrm>
        </p:grpSpPr>
        <p:sp>
          <p:nvSpPr>
            <p:cNvPr id="19" name="Freeform 19"/>
            <p:cNvSpPr/>
            <p:nvPr/>
          </p:nvSpPr>
          <p:spPr>
            <a:xfrm>
              <a:off x="0" y="0"/>
              <a:ext cx="4934111" cy="1872846"/>
            </a:xfrm>
            <a:custGeom>
              <a:avLst/>
              <a:gdLst/>
              <a:ahLst/>
              <a:cxnLst/>
              <a:rect l="l" t="t" r="r" b="b"/>
              <a:pathLst>
                <a:path w="4934111" h="1872846">
                  <a:moveTo>
                    <a:pt x="0" y="0"/>
                  </a:moveTo>
                  <a:lnTo>
                    <a:pt x="4934111" y="0"/>
                  </a:lnTo>
                  <a:lnTo>
                    <a:pt x="4934111" y="1872846"/>
                  </a:lnTo>
                  <a:lnTo>
                    <a:pt x="0" y="1872846"/>
                  </a:lnTo>
                  <a:close/>
                </a:path>
              </a:pathLst>
            </a:custGeom>
            <a:solidFill>
              <a:srgbClr val="FFFFFF"/>
            </a:solidFill>
          </p:spPr>
          <p:txBody>
            <a:bodyPr/>
            <a:lstStyle/>
            <a:p>
              <a:endParaRPr lang="en-PH"/>
            </a:p>
          </p:txBody>
        </p:sp>
        <p:sp>
          <p:nvSpPr>
            <p:cNvPr id="20" name="TextBox 20"/>
            <p:cNvSpPr txBox="1"/>
            <p:nvPr/>
          </p:nvSpPr>
          <p:spPr>
            <a:xfrm>
              <a:off x="0" y="-9525"/>
              <a:ext cx="812800" cy="822325"/>
            </a:xfrm>
            <a:prstGeom prst="rect">
              <a:avLst/>
            </a:prstGeom>
          </p:spPr>
          <p:txBody>
            <a:bodyPr lIns="37784" tIns="37784" rIns="37784" bIns="37784" rtlCol="0" anchor="ctr"/>
            <a:lstStyle/>
            <a:p>
              <a:pPr algn="ctr">
                <a:lnSpc>
                  <a:spcPts val="1457"/>
                </a:lnSpc>
              </a:pPr>
              <a:endParaRPr/>
            </a:p>
          </p:txBody>
        </p:sp>
      </p:grpSp>
      <p:grpSp>
        <p:nvGrpSpPr>
          <p:cNvPr id="21" name="Group 21"/>
          <p:cNvGrpSpPr/>
          <p:nvPr/>
        </p:nvGrpSpPr>
        <p:grpSpPr>
          <a:xfrm rot="-1712948">
            <a:off x="2458820" y="8107628"/>
            <a:ext cx="1433628" cy="3376485"/>
            <a:chOff x="0" y="0"/>
            <a:chExt cx="690767" cy="1626896"/>
          </a:xfrm>
        </p:grpSpPr>
        <p:sp>
          <p:nvSpPr>
            <p:cNvPr id="22" name="Freeform 22"/>
            <p:cNvSpPr/>
            <p:nvPr/>
          </p:nvSpPr>
          <p:spPr>
            <a:xfrm>
              <a:off x="0" y="0"/>
              <a:ext cx="690767" cy="1626896"/>
            </a:xfrm>
            <a:custGeom>
              <a:avLst/>
              <a:gdLst/>
              <a:ahLst/>
              <a:cxnLst/>
              <a:rect l="l" t="t" r="r" b="b"/>
              <a:pathLst>
                <a:path w="690767" h="1626896">
                  <a:moveTo>
                    <a:pt x="345384" y="0"/>
                  </a:moveTo>
                  <a:lnTo>
                    <a:pt x="690767" y="1626896"/>
                  </a:lnTo>
                  <a:lnTo>
                    <a:pt x="0" y="1626896"/>
                  </a:lnTo>
                  <a:lnTo>
                    <a:pt x="345384" y="0"/>
                  </a:lnTo>
                  <a:close/>
                </a:path>
              </a:pathLst>
            </a:custGeom>
            <a:solidFill>
              <a:srgbClr val="176A7F">
                <a:alpha val="9804"/>
              </a:srgbClr>
            </a:solidFill>
          </p:spPr>
          <p:txBody>
            <a:bodyPr/>
            <a:lstStyle/>
            <a:p>
              <a:endParaRPr lang="en-PH"/>
            </a:p>
          </p:txBody>
        </p:sp>
        <p:sp>
          <p:nvSpPr>
            <p:cNvPr id="23" name="TextBox 23"/>
            <p:cNvSpPr txBox="1"/>
            <p:nvPr/>
          </p:nvSpPr>
          <p:spPr>
            <a:xfrm>
              <a:off x="127000" y="320675"/>
              <a:ext cx="558800" cy="339725"/>
            </a:xfrm>
            <a:prstGeom prst="rect">
              <a:avLst/>
            </a:prstGeom>
          </p:spPr>
          <p:txBody>
            <a:bodyPr lIns="37784" tIns="37784" rIns="37784" bIns="37784" rtlCol="0" anchor="ctr"/>
            <a:lstStyle/>
            <a:p>
              <a:pPr algn="ctr">
                <a:lnSpc>
                  <a:spcPts val="1457"/>
                </a:lnSpc>
              </a:pPr>
              <a:endParaRPr/>
            </a:p>
          </p:txBody>
        </p:sp>
      </p:grpSp>
      <p:sp>
        <p:nvSpPr>
          <p:cNvPr id="24" name="TextBox 24"/>
          <p:cNvSpPr txBox="1"/>
          <p:nvPr/>
        </p:nvSpPr>
        <p:spPr>
          <a:xfrm>
            <a:off x="3392709" y="1331747"/>
            <a:ext cx="14186831" cy="4067717"/>
          </a:xfrm>
          <a:prstGeom prst="rect">
            <a:avLst/>
          </a:prstGeom>
        </p:spPr>
        <p:txBody>
          <a:bodyPr wrap="square" lIns="0" tIns="0" rIns="0" bIns="0" rtlCol="0" anchor="t">
            <a:spAutoFit/>
          </a:bodyPr>
          <a:lstStyle/>
          <a:p>
            <a:pPr marL="345441" lvl="1" algn="just">
              <a:lnSpc>
                <a:spcPts val="4480"/>
              </a:lnSpc>
            </a:pPr>
            <a:endParaRPr lang="en-US" sz="4800" b="1" dirty="0">
              <a:solidFill>
                <a:srgbClr val="000000"/>
              </a:solidFill>
              <a:latin typeface="Book Antiqua" panose="02040602050305030304" pitchFamily="18" charset="0"/>
            </a:endParaRPr>
          </a:p>
          <a:p>
            <a:pPr marL="690881" lvl="1" indent="-345440" algn="just">
              <a:lnSpc>
                <a:spcPts val="4480"/>
              </a:lnSpc>
              <a:buFont typeface="Arial"/>
              <a:buChar char="•"/>
            </a:pPr>
            <a:r>
              <a:rPr lang="en-US" sz="4800" b="1" dirty="0">
                <a:solidFill>
                  <a:srgbClr val="000000"/>
                </a:solidFill>
                <a:latin typeface="Book Antiqua" panose="02040602050305030304" pitchFamily="18" charset="0"/>
              </a:rPr>
              <a:t>Data Collection Procedure</a:t>
            </a:r>
          </a:p>
          <a:p>
            <a:pPr marL="690881" lvl="1" indent="-345440" algn="just">
              <a:lnSpc>
                <a:spcPts val="4480"/>
              </a:lnSpc>
              <a:buFont typeface="Arial"/>
              <a:buChar char="•"/>
            </a:pPr>
            <a:endParaRPr lang="en-US" sz="48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800" b="1" dirty="0">
              <a:solidFill>
                <a:srgbClr val="000000"/>
              </a:solidFill>
              <a:latin typeface="Book Antiqua" panose="02040602050305030304" pitchFamily="18" charset="0"/>
            </a:endParaRPr>
          </a:p>
          <a:p>
            <a:pPr marL="690881" lvl="1" indent="-345440" algn="just">
              <a:lnSpc>
                <a:spcPts val="4480"/>
              </a:lnSpc>
              <a:buFont typeface="Arial"/>
              <a:buChar char="•"/>
            </a:pPr>
            <a:endParaRPr lang="en-US" sz="4800" b="1" dirty="0">
              <a:solidFill>
                <a:srgbClr val="000000"/>
              </a:solidFill>
              <a:latin typeface="Book Antiqua" panose="02040602050305030304" pitchFamily="18" charset="0"/>
            </a:endParaRPr>
          </a:p>
          <a:p>
            <a:pPr marL="345441" lvl="1" algn="just">
              <a:lnSpc>
                <a:spcPts val="4480"/>
              </a:lnSpc>
            </a:pPr>
            <a:endParaRPr lang="en-US" sz="4800" b="1" dirty="0">
              <a:solidFill>
                <a:srgbClr val="000000"/>
              </a:solidFill>
              <a:latin typeface="Book Antiqua" panose="02040602050305030304" pitchFamily="18" charset="0"/>
            </a:endParaRPr>
          </a:p>
          <a:p>
            <a:pPr marL="345441" lvl="1" algn="just">
              <a:lnSpc>
                <a:spcPts val="4480"/>
              </a:lnSpc>
            </a:pPr>
            <a:endParaRPr lang="en-US" sz="4800" b="1" i="1" dirty="0">
              <a:solidFill>
                <a:srgbClr val="000000"/>
              </a:solidFill>
              <a:latin typeface="Book Antiqua" panose="02040602050305030304" pitchFamily="18" charset="0"/>
            </a:endParaRPr>
          </a:p>
        </p:txBody>
      </p:sp>
      <p:sp>
        <p:nvSpPr>
          <p:cNvPr id="26" name="AutoShape 26"/>
          <p:cNvSpPr/>
          <p:nvPr/>
        </p:nvSpPr>
        <p:spPr>
          <a:xfrm rot="-5400000">
            <a:off x="14573363" y="9536870"/>
            <a:ext cx="659842" cy="0"/>
          </a:xfrm>
          <a:prstGeom prst="line">
            <a:avLst/>
          </a:prstGeom>
          <a:ln w="38100" cap="flat">
            <a:solidFill>
              <a:srgbClr val="000000"/>
            </a:solidFill>
            <a:prstDash val="solid"/>
            <a:headEnd type="none" w="sm" len="sm"/>
            <a:tailEnd type="none" w="sm" len="sm"/>
          </a:ln>
        </p:spPr>
        <p:txBody>
          <a:bodyPr/>
          <a:lstStyle/>
          <a:p>
            <a:endParaRPr lang="en-PH"/>
          </a:p>
        </p:txBody>
      </p:sp>
      <p:sp>
        <p:nvSpPr>
          <p:cNvPr id="29" name="TextBox 28">
            <a:extLst>
              <a:ext uri="{FF2B5EF4-FFF2-40B4-BE49-F238E27FC236}">
                <a16:creationId xmlns:a16="http://schemas.microsoft.com/office/drawing/2014/main" id="{C47C3F29-3CF6-8C15-169C-7C3C130FF9B4}"/>
              </a:ext>
            </a:extLst>
          </p:cNvPr>
          <p:cNvSpPr txBox="1"/>
          <p:nvPr/>
        </p:nvSpPr>
        <p:spPr>
          <a:xfrm>
            <a:off x="3126326" y="2639775"/>
            <a:ext cx="15181229" cy="6986528"/>
          </a:xfrm>
          <a:prstGeom prst="rect">
            <a:avLst/>
          </a:prstGeom>
          <a:noFill/>
        </p:spPr>
        <p:txBody>
          <a:bodyPr wrap="square">
            <a:spAutoFit/>
          </a:bodyPr>
          <a:lstStyle/>
          <a:p>
            <a:r>
              <a:rPr lang="en-US" dirty="0"/>
              <a:t> </a:t>
            </a:r>
            <a:r>
              <a:rPr lang="en-US" sz="3200" dirty="0"/>
              <a:t>An interview method is used to gather data in this study. Interviews are the most efficient method for qualitative research because it enables to explain, better understand, and investigate the viewpoints, behavior, experiences, and phenomena of your study participants (Virginia Tech, 2018). The interviews were structured, so a list of questions and topics to address was created ahead of time. A structured interview is employed in this qualitative structured interview study to allow the researchers to clarify significant concerns and questions that arose during the interviewing procedure. This approach helps ensure consistency and reliability in gathering information from study participants.</a:t>
            </a:r>
          </a:p>
          <a:p>
            <a:r>
              <a:rPr lang="en-US" sz="3200" dirty="0"/>
              <a:t>       The researcher's nonjudgmental attitude toward the participants is an important feature of effective means of communicating with the participants since it motivates some of them.    The researcher is also wary of the emotional component, which could influence the data's efficacy and validity. The interviewer is responsible for creating an environment in which the participants feel at ease, allowing them to speak freely and openly (Guest, et al., 2013).</a:t>
            </a:r>
            <a:endParaRPr lang="en-PH" sz="3200" dirty="0"/>
          </a:p>
        </p:txBody>
      </p:sp>
    </p:spTree>
    <p:extLst>
      <p:ext uri="{BB962C8B-B14F-4D97-AF65-F5344CB8AC3E}">
        <p14:creationId xmlns:p14="http://schemas.microsoft.com/office/powerpoint/2010/main" val="278372558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3516</TotalTime>
  <Words>1653</Words>
  <Application>Microsoft Office PowerPoint</Application>
  <PresentationFormat>Custom</PresentationFormat>
  <Paragraphs>89</Paragraphs>
  <Slides>9</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Segoe UI Historic</vt:lpstr>
      <vt:lpstr>Canva Sans Bold</vt:lpstr>
      <vt:lpstr>Canva Sans</vt:lpstr>
      <vt:lpstr>Book Antiqua</vt:lpstr>
      <vt:lpstr>Open Sauce SemiBold</vt:lpstr>
      <vt:lpstr>Calibri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Enhanced</dc:title>
  <dc:creator>Jessa</dc:creator>
  <cp:lastModifiedBy>adarlodennieljenise@gmail.com</cp:lastModifiedBy>
  <cp:revision>19</cp:revision>
  <dcterms:created xsi:type="dcterms:W3CDTF">2006-08-16T00:00:00Z</dcterms:created>
  <dcterms:modified xsi:type="dcterms:W3CDTF">2024-05-12T14:36:14Z</dcterms:modified>
  <dc:identifier>DAFZxsjIJ_g</dc:identifier>
</cp:coreProperties>
</file>